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3" r:id="rId17"/>
    <p:sldId id="272" r:id="rId18"/>
    <p:sldId id="274" r:id="rId19"/>
    <p:sldId id="275" r:id="rId20"/>
    <p:sldId id="276" r:id="rId21"/>
    <p:sldId id="277" r:id="rId22"/>
    <p:sldId id="280" r:id="rId23"/>
    <p:sldId id="281" r:id="rId24"/>
    <p:sldId id="282" r:id="rId25"/>
    <p:sldId id="278" r:id="rId26"/>
    <p:sldId id="279" r:id="rId27"/>
    <p:sldId id="283" r:id="rId28"/>
    <p:sldId id="286" r:id="rId29"/>
    <p:sldId id="287" r:id="rId30"/>
    <p:sldId id="288" r:id="rId31"/>
    <p:sldId id="290" r:id="rId32"/>
    <p:sldId id="291" r:id="rId33"/>
    <p:sldId id="292" r:id="rId34"/>
    <p:sldId id="293" r:id="rId35"/>
    <p:sldId id="294" r:id="rId36"/>
    <p:sldId id="295" r:id="rId37"/>
    <p:sldId id="296" r:id="rId38"/>
    <p:sldId id="289" r:id="rId39"/>
    <p:sldId id="284" r:id="rId40"/>
    <p:sldId id="285" r:id="rId41"/>
    <p:sldId id="267"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C289315-C72A-4D2C-93F6-D3D157CC52C0}" type="datetimeFigureOut">
              <a:rPr lang="en-CA" smtClean="0"/>
              <a:t>19/11/2025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74E69C3D-E038-40CA-98BF-A4D22A6519C6}" type="slidenum">
              <a:rPr lang="en-CA" smtClean="0"/>
              <a:t>‹#›</a:t>
            </a:fld>
            <a:endParaRPr lang="en-CA"/>
          </a:p>
        </p:txBody>
      </p:sp>
    </p:spTree>
    <p:extLst>
      <p:ext uri="{BB962C8B-B14F-4D97-AF65-F5344CB8AC3E}">
        <p14:creationId xmlns:p14="http://schemas.microsoft.com/office/powerpoint/2010/main" val="2340416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289315-C72A-4D2C-93F6-D3D157CC52C0}" type="datetimeFigureOut">
              <a:rPr lang="en-CA" smtClean="0"/>
              <a:t>19/11/2025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E69C3D-E038-40CA-98BF-A4D22A6519C6}" type="slidenum">
              <a:rPr lang="en-CA" smtClean="0"/>
              <a:t>‹#›</a:t>
            </a:fld>
            <a:endParaRPr lang="en-CA"/>
          </a:p>
        </p:txBody>
      </p:sp>
    </p:spTree>
    <p:extLst>
      <p:ext uri="{BB962C8B-B14F-4D97-AF65-F5344CB8AC3E}">
        <p14:creationId xmlns:p14="http://schemas.microsoft.com/office/powerpoint/2010/main" val="3120001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8C289315-C72A-4D2C-93F6-D3D157CC52C0}" type="datetimeFigureOut">
              <a:rPr lang="en-CA" smtClean="0"/>
              <a:t>19/11/2025</a:t>
            </a:fld>
            <a:endParaRPr lang="en-CA"/>
          </a:p>
        </p:txBody>
      </p:sp>
      <p:sp>
        <p:nvSpPr>
          <p:cNvPr id="5" name="Footer Placeholder 4"/>
          <p:cNvSpPr>
            <a:spLocks noGrp="1"/>
          </p:cNvSpPr>
          <p:nvPr>
            <p:ph type="ftr" sz="quarter" idx="11"/>
          </p:nvPr>
        </p:nvSpPr>
        <p:spPr>
          <a:xfrm>
            <a:off x="2182708" y="6272784"/>
            <a:ext cx="6327648" cy="365125"/>
          </a:xfrm>
        </p:spPr>
        <p:txBody>
          <a:bodyPr/>
          <a:lstStyle/>
          <a:p>
            <a:endParaRPr lang="en-CA"/>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74E69C3D-E038-40CA-98BF-A4D22A6519C6}" type="slidenum">
              <a:rPr lang="en-CA" smtClean="0"/>
              <a:t>‹#›</a:t>
            </a:fld>
            <a:endParaRPr lang="en-CA"/>
          </a:p>
        </p:txBody>
      </p:sp>
    </p:spTree>
    <p:extLst>
      <p:ext uri="{BB962C8B-B14F-4D97-AF65-F5344CB8AC3E}">
        <p14:creationId xmlns:p14="http://schemas.microsoft.com/office/powerpoint/2010/main" val="1661245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C289315-C72A-4D2C-93F6-D3D157CC52C0}" type="datetimeFigureOut">
              <a:rPr lang="en-CA" smtClean="0"/>
              <a:t>19/11/2025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4E69C3D-E038-40CA-98BF-A4D22A6519C6}" type="slidenum">
              <a:rPr lang="en-CA" smtClean="0"/>
              <a:t>‹#›</a:t>
            </a:fld>
            <a:endParaRPr lang="en-CA"/>
          </a:p>
        </p:txBody>
      </p:sp>
    </p:spTree>
    <p:extLst>
      <p:ext uri="{BB962C8B-B14F-4D97-AF65-F5344CB8AC3E}">
        <p14:creationId xmlns:p14="http://schemas.microsoft.com/office/powerpoint/2010/main" val="560523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C289315-C72A-4D2C-93F6-D3D157CC52C0}" type="datetimeFigureOut">
              <a:rPr lang="en-CA" smtClean="0"/>
              <a:t>19/11/2025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4E69C3D-E038-40CA-98BF-A4D22A6519C6}" type="slidenum">
              <a:rPr lang="en-CA" smtClean="0"/>
              <a:t>‹#›</a:t>
            </a:fld>
            <a:endParaRPr lang="en-CA"/>
          </a:p>
        </p:txBody>
      </p:sp>
    </p:spTree>
    <p:extLst>
      <p:ext uri="{BB962C8B-B14F-4D97-AF65-F5344CB8AC3E}">
        <p14:creationId xmlns:p14="http://schemas.microsoft.com/office/powerpoint/2010/main" val="1726361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289315-C72A-4D2C-93F6-D3D157CC52C0}" type="datetimeFigureOut">
              <a:rPr lang="en-CA" smtClean="0"/>
              <a:t>19/11/2025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4E69C3D-E038-40CA-98BF-A4D22A6519C6}" type="slidenum">
              <a:rPr lang="en-CA" smtClean="0"/>
              <a:t>‹#›</a:t>
            </a:fld>
            <a:endParaRPr lang="en-CA"/>
          </a:p>
        </p:txBody>
      </p:sp>
    </p:spTree>
    <p:extLst>
      <p:ext uri="{BB962C8B-B14F-4D97-AF65-F5344CB8AC3E}">
        <p14:creationId xmlns:p14="http://schemas.microsoft.com/office/powerpoint/2010/main" val="2752368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289315-C72A-4D2C-93F6-D3D157CC52C0}" type="datetimeFigureOut">
              <a:rPr lang="en-CA" smtClean="0"/>
              <a:t>19/11/2025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74E69C3D-E038-40CA-98BF-A4D22A6519C6}" type="slidenum">
              <a:rPr lang="en-CA" smtClean="0"/>
              <a:t>‹#›</a:t>
            </a:fld>
            <a:endParaRPr lang="en-CA"/>
          </a:p>
        </p:txBody>
      </p:sp>
    </p:spTree>
    <p:extLst>
      <p:ext uri="{BB962C8B-B14F-4D97-AF65-F5344CB8AC3E}">
        <p14:creationId xmlns:p14="http://schemas.microsoft.com/office/powerpoint/2010/main" val="3317127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C289315-C72A-4D2C-93F6-D3D157CC52C0}" type="datetimeFigureOut">
              <a:rPr lang="en-CA" smtClean="0"/>
              <a:t>19/11/2025</a:t>
            </a:fld>
            <a:endParaRPr lang="en-CA"/>
          </a:p>
        </p:txBody>
      </p:sp>
      <p:sp>
        <p:nvSpPr>
          <p:cNvPr id="6" name="Footer Placeholder 5"/>
          <p:cNvSpPr>
            <a:spLocks noGrp="1"/>
          </p:cNvSpPr>
          <p:nvPr>
            <p:ph type="ftr" sz="quarter" idx="11"/>
          </p:nvPr>
        </p:nvSpPr>
        <p:spPr/>
        <p:txBody>
          <a:bodyPr/>
          <a:lstStyle/>
          <a:p>
            <a:endParaRPr lang="en-CA"/>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4E69C3D-E038-40CA-98BF-A4D22A6519C6}" type="slidenum">
              <a:rPr lang="en-CA" smtClean="0"/>
              <a:t>‹#›</a:t>
            </a:fld>
            <a:endParaRPr lang="en-CA"/>
          </a:p>
        </p:txBody>
      </p:sp>
    </p:spTree>
    <p:extLst>
      <p:ext uri="{BB962C8B-B14F-4D97-AF65-F5344CB8AC3E}">
        <p14:creationId xmlns:p14="http://schemas.microsoft.com/office/powerpoint/2010/main" val="2508569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C289315-C72A-4D2C-93F6-D3D157CC52C0}" type="datetimeFigureOut">
              <a:rPr lang="en-CA" smtClean="0"/>
              <a:t>19/11/2025</a:t>
            </a:fld>
            <a:endParaRPr lang="en-CA"/>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4E69C3D-E038-40CA-98BF-A4D22A6519C6}" type="slidenum">
              <a:rPr lang="en-CA" smtClean="0"/>
              <a:t>‹#›</a:t>
            </a:fld>
            <a:endParaRPr lang="en-CA"/>
          </a:p>
        </p:txBody>
      </p:sp>
    </p:spTree>
    <p:extLst>
      <p:ext uri="{BB962C8B-B14F-4D97-AF65-F5344CB8AC3E}">
        <p14:creationId xmlns:p14="http://schemas.microsoft.com/office/powerpoint/2010/main" val="2569965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289315-C72A-4D2C-93F6-D3D157CC52C0}" type="datetimeFigureOut">
              <a:rPr lang="en-CA" smtClean="0"/>
              <a:t>19/11/2025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E69C3D-E038-40CA-98BF-A4D22A6519C6}" type="slidenum">
              <a:rPr lang="en-CA" smtClean="0"/>
              <a:t>‹#›</a:t>
            </a:fld>
            <a:endParaRPr lang="en-CA"/>
          </a:p>
        </p:txBody>
      </p:sp>
    </p:spTree>
    <p:extLst>
      <p:ext uri="{BB962C8B-B14F-4D97-AF65-F5344CB8AC3E}">
        <p14:creationId xmlns:p14="http://schemas.microsoft.com/office/powerpoint/2010/main" val="356100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289315-C72A-4D2C-93F6-D3D157CC52C0}" type="datetimeFigureOut">
              <a:rPr lang="en-CA" smtClean="0"/>
              <a:t>19/11/2025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4E69C3D-E038-40CA-98BF-A4D22A6519C6}" type="slidenum">
              <a:rPr lang="en-CA" smtClean="0"/>
              <a:t>‹#›</a:t>
            </a:fld>
            <a:endParaRPr lang="en-CA"/>
          </a:p>
        </p:txBody>
      </p:sp>
    </p:spTree>
    <p:extLst>
      <p:ext uri="{BB962C8B-B14F-4D97-AF65-F5344CB8AC3E}">
        <p14:creationId xmlns:p14="http://schemas.microsoft.com/office/powerpoint/2010/main" val="4164976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C289315-C72A-4D2C-93F6-D3D157CC52C0}" type="datetimeFigureOut">
              <a:rPr lang="en-CA" smtClean="0"/>
              <a:t>19/11/2025</a:t>
            </a:fld>
            <a:endParaRPr lang="en-CA"/>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CA"/>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74E69C3D-E038-40CA-98BF-A4D22A6519C6}" type="slidenum">
              <a:rPr lang="en-CA" smtClean="0"/>
              <a:t>‹#›</a:t>
            </a:fld>
            <a:endParaRPr lang="en-CA"/>
          </a:p>
        </p:txBody>
      </p:sp>
    </p:spTree>
    <p:extLst>
      <p:ext uri="{BB962C8B-B14F-4D97-AF65-F5344CB8AC3E}">
        <p14:creationId xmlns:p14="http://schemas.microsoft.com/office/powerpoint/2010/main" val="273898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Gradient descent</a:t>
            </a:r>
            <a:endParaRPr lang="en-CA" dirty="0"/>
          </a:p>
        </p:txBody>
      </p:sp>
      <p:sp>
        <p:nvSpPr>
          <p:cNvPr id="3" name="Subtitle 2"/>
          <p:cNvSpPr>
            <a:spLocks noGrp="1"/>
          </p:cNvSpPr>
          <p:nvPr>
            <p:ph type="subTitle" idx="1"/>
          </p:nvPr>
        </p:nvSpPr>
        <p:spPr>
          <a:xfrm>
            <a:off x="1069848" y="4389120"/>
            <a:ext cx="7891272" cy="1498496"/>
          </a:xfrm>
        </p:spPr>
        <p:txBody>
          <a:bodyPr/>
          <a:lstStyle/>
          <a:p>
            <a:r>
              <a:rPr lang="en-US" dirty="0" smtClean="0"/>
              <a:t>By: Khaled Mohammed </a:t>
            </a:r>
            <a:r>
              <a:rPr lang="en-US" dirty="0" err="1" smtClean="0"/>
              <a:t>Abdelgaber</a:t>
            </a:r>
            <a:endParaRPr lang="en-US" dirty="0" smtClean="0"/>
          </a:p>
          <a:p>
            <a:r>
              <a:rPr lang="en-US" dirty="0" smtClean="0"/>
              <a:t>Teaching Assistant at Faculty of Engineering</a:t>
            </a:r>
          </a:p>
          <a:p>
            <a:r>
              <a:rPr lang="en-US" dirty="0" smtClean="0"/>
              <a:t>Contact: Khaled.edu.engineer@gmail.com</a:t>
            </a:r>
            <a:endParaRPr lang="en-CA" dirty="0"/>
          </a:p>
        </p:txBody>
      </p:sp>
    </p:spTree>
    <p:extLst>
      <p:ext uri="{BB962C8B-B14F-4D97-AF65-F5344CB8AC3E}">
        <p14:creationId xmlns:p14="http://schemas.microsoft.com/office/powerpoint/2010/main" val="2144274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smtClean="0"/>
              <a:t>Introduction</a:t>
            </a:r>
            <a:endParaRPr lang="en-CA" dirty="0"/>
          </a:p>
        </p:txBody>
      </p:sp>
      <p:sp>
        <p:nvSpPr>
          <p:cNvPr id="3" name="Content Placeholder 2"/>
          <p:cNvSpPr>
            <a:spLocks noGrp="1"/>
          </p:cNvSpPr>
          <p:nvPr>
            <p:ph idx="1"/>
          </p:nvPr>
        </p:nvSpPr>
        <p:spPr/>
        <p:txBody>
          <a:bodyPr/>
          <a:lstStyle/>
          <a:p>
            <a:r>
              <a:rPr lang="en-US" dirty="0"/>
              <a:t>Gradient descent (GD) is an iterative first-order </a:t>
            </a:r>
            <a:r>
              <a:rPr lang="en-US" dirty="0" err="1"/>
              <a:t>optimisation</a:t>
            </a:r>
            <a:r>
              <a:rPr lang="en-US" dirty="0"/>
              <a:t> algorithm, used to find a local minimum/maximum of a given function. </a:t>
            </a:r>
            <a:endParaRPr lang="en-US" dirty="0" smtClean="0"/>
          </a:p>
          <a:p>
            <a:r>
              <a:rPr lang="en-US" dirty="0"/>
              <a:t>uses only the </a:t>
            </a:r>
            <a:r>
              <a:rPr lang="en-US" b="1" dirty="0"/>
              <a:t>first derivative</a:t>
            </a:r>
            <a:r>
              <a:rPr lang="en-US" dirty="0"/>
              <a:t> (the gradient) of the function to guide its search for minima or </a:t>
            </a:r>
            <a:r>
              <a:rPr lang="en-US" dirty="0" smtClean="0"/>
              <a:t>maxima.</a:t>
            </a:r>
          </a:p>
          <a:p>
            <a:r>
              <a:rPr lang="en-US" dirty="0" smtClean="0"/>
              <a:t>This </a:t>
            </a:r>
            <a:r>
              <a:rPr lang="en-US" dirty="0"/>
              <a:t>method is commonly used in machine learning (ML) and deep learning (DL) to </a:t>
            </a:r>
            <a:r>
              <a:rPr lang="en-US" dirty="0" smtClean="0"/>
              <a:t>minimize </a:t>
            </a:r>
            <a:r>
              <a:rPr lang="en-US" dirty="0"/>
              <a:t>a cost/loss function (e.g. in a linear regression). </a:t>
            </a:r>
            <a:endParaRPr lang="en-US" dirty="0" smtClean="0"/>
          </a:p>
          <a:p>
            <a:r>
              <a:rPr lang="en-US" dirty="0" smtClean="0"/>
              <a:t>Due </a:t>
            </a:r>
            <a:r>
              <a:rPr lang="en-US" dirty="0"/>
              <a:t>to its importance and ease of implementation, this algorithm is usually taught at the beginning of almost all machine learning </a:t>
            </a:r>
            <a:r>
              <a:rPr lang="en-US" dirty="0" smtClean="0"/>
              <a:t>courses.</a:t>
            </a:r>
          </a:p>
          <a:p>
            <a:r>
              <a:rPr lang="en-US" dirty="0"/>
              <a:t>it relies on the slope of the function to decide the direction and size of each step, without using second derivatives or curvature information.</a:t>
            </a:r>
            <a:endParaRPr lang="en-CA" dirty="0"/>
          </a:p>
        </p:txBody>
      </p:sp>
    </p:spTree>
    <p:extLst>
      <p:ext uri="{BB962C8B-B14F-4D97-AF65-F5344CB8AC3E}">
        <p14:creationId xmlns:p14="http://schemas.microsoft.com/office/powerpoint/2010/main" val="602244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Usage areas</a:t>
            </a:r>
            <a:endParaRPr lang="en-CA" dirty="0"/>
          </a:p>
        </p:txBody>
      </p:sp>
      <p:sp>
        <p:nvSpPr>
          <p:cNvPr id="3" name="Content Placeholder 2"/>
          <p:cNvSpPr>
            <a:spLocks noGrp="1"/>
          </p:cNvSpPr>
          <p:nvPr>
            <p:ph idx="1"/>
          </p:nvPr>
        </p:nvSpPr>
        <p:spPr/>
        <p:txBody>
          <a:bodyPr/>
          <a:lstStyle/>
          <a:p>
            <a:pPr>
              <a:lnSpc>
                <a:spcPct val="250000"/>
              </a:lnSpc>
            </a:pPr>
            <a:r>
              <a:rPr lang="en-US" dirty="0"/>
              <a:t>However, its use is not limited to ML/DL only, it’s widely used also in areas like:</a:t>
            </a:r>
          </a:p>
          <a:p>
            <a:pPr lvl="1">
              <a:lnSpc>
                <a:spcPct val="250000"/>
              </a:lnSpc>
            </a:pPr>
            <a:r>
              <a:rPr lang="en-US" dirty="0"/>
              <a:t>control engineering (robotics, chemical, etc.)</a:t>
            </a:r>
          </a:p>
          <a:p>
            <a:pPr lvl="1">
              <a:lnSpc>
                <a:spcPct val="250000"/>
              </a:lnSpc>
            </a:pPr>
            <a:r>
              <a:rPr lang="en-US" dirty="0"/>
              <a:t>computer games</a:t>
            </a:r>
          </a:p>
          <a:p>
            <a:pPr lvl="1">
              <a:lnSpc>
                <a:spcPct val="250000"/>
              </a:lnSpc>
            </a:pPr>
            <a:r>
              <a:rPr lang="en-US" dirty="0"/>
              <a:t>mechanical engineering</a:t>
            </a:r>
          </a:p>
          <a:p>
            <a:endParaRPr lang="en-CA" dirty="0"/>
          </a:p>
        </p:txBody>
      </p:sp>
    </p:spTree>
    <p:extLst>
      <p:ext uri="{BB962C8B-B14F-4D97-AF65-F5344CB8AC3E}">
        <p14:creationId xmlns:p14="http://schemas.microsoft.com/office/powerpoint/2010/main" val="212734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Function </a:t>
            </a:r>
            <a:r>
              <a:rPr lang="en-CA" b="1" dirty="0" smtClean="0"/>
              <a:t>requirements</a:t>
            </a:r>
            <a:endParaRPr lang="en-CA" dirty="0"/>
          </a:p>
        </p:txBody>
      </p:sp>
      <p:sp>
        <p:nvSpPr>
          <p:cNvPr id="3" name="Content Placeholder 2"/>
          <p:cNvSpPr>
            <a:spLocks noGrp="1"/>
          </p:cNvSpPr>
          <p:nvPr>
            <p:ph idx="1"/>
          </p:nvPr>
        </p:nvSpPr>
        <p:spPr/>
        <p:txBody>
          <a:bodyPr>
            <a:normAutofit/>
          </a:bodyPr>
          <a:lstStyle/>
          <a:p>
            <a:pPr>
              <a:lnSpc>
                <a:spcPct val="250000"/>
              </a:lnSpc>
            </a:pPr>
            <a:r>
              <a:rPr lang="en-US" sz="2400" dirty="0"/>
              <a:t>Gradient descent algorithm does not work for all functions. There are two specific requirements. A function has to be:</a:t>
            </a:r>
          </a:p>
          <a:p>
            <a:pPr lvl="1">
              <a:lnSpc>
                <a:spcPct val="250000"/>
              </a:lnSpc>
            </a:pPr>
            <a:r>
              <a:rPr lang="en-US" sz="2200" b="1" dirty="0" smtClean="0"/>
              <a:t>Differentiable </a:t>
            </a:r>
            <a:endParaRPr lang="en-US" sz="2200" dirty="0"/>
          </a:p>
          <a:p>
            <a:pPr lvl="1">
              <a:lnSpc>
                <a:spcPct val="250000"/>
              </a:lnSpc>
            </a:pPr>
            <a:r>
              <a:rPr lang="en-US" sz="2200" b="1" dirty="0" smtClean="0"/>
              <a:t>Convex </a:t>
            </a:r>
            <a:endParaRPr lang="en-US" sz="2200" dirty="0"/>
          </a:p>
          <a:p>
            <a:endParaRPr lang="en-CA" dirty="0"/>
          </a:p>
        </p:txBody>
      </p:sp>
    </p:spTree>
    <p:extLst>
      <p:ext uri="{BB962C8B-B14F-4D97-AF65-F5344CB8AC3E}">
        <p14:creationId xmlns:p14="http://schemas.microsoft.com/office/powerpoint/2010/main" val="3735159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differentiable</a:t>
            </a:r>
            <a:endParaRPr lang="en-CA" dirty="0"/>
          </a:p>
        </p:txBody>
      </p:sp>
      <p:sp>
        <p:nvSpPr>
          <p:cNvPr id="3" name="Content Placeholder 2"/>
          <p:cNvSpPr>
            <a:spLocks noGrp="1"/>
          </p:cNvSpPr>
          <p:nvPr>
            <p:ph idx="1"/>
          </p:nvPr>
        </p:nvSpPr>
        <p:spPr/>
        <p:txBody>
          <a:bodyPr/>
          <a:lstStyle/>
          <a:p>
            <a:r>
              <a:rPr lang="en-US" dirty="0"/>
              <a:t>If a function is differentiable it has a derivative for each point in its </a:t>
            </a:r>
            <a:r>
              <a:rPr lang="en-US" dirty="0" smtClean="0"/>
              <a:t>domain</a:t>
            </a:r>
          </a:p>
          <a:p>
            <a:r>
              <a:rPr lang="en-US" dirty="0" smtClean="0"/>
              <a:t>Not </a:t>
            </a:r>
            <a:r>
              <a:rPr lang="en-US" dirty="0"/>
              <a:t>all functions meet these criteria. </a:t>
            </a:r>
            <a:endParaRPr lang="en-US" dirty="0" smtClean="0"/>
          </a:p>
          <a:p>
            <a:r>
              <a:rPr lang="en-US" dirty="0" smtClean="0"/>
              <a:t>First</a:t>
            </a:r>
            <a:r>
              <a:rPr lang="en-US" dirty="0"/>
              <a:t>, let’s see some </a:t>
            </a:r>
            <a:r>
              <a:rPr lang="en-US" dirty="0" smtClean="0"/>
              <a:t>examples </a:t>
            </a:r>
            <a:r>
              <a:rPr lang="en-US" dirty="0"/>
              <a:t>of functions meeting this criterion</a:t>
            </a:r>
            <a:r>
              <a:rPr lang="en-US" dirty="0" smtClean="0"/>
              <a:t>:</a:t>
            </a:r>
          </a:p>
          <a:p>
            <a:endParaRPr lang="en-CA" dirty="0"/>
          </a:p>
        </p:txBody>
      </p:sp>
      <p:pic>
        <p:nvPicPr>
          <p:cNvPr id="4" name="Picture 3"/>
          <p:cNvPicPr>
            <a:picLocks noChangeAspect="1"/>
          </p:cNvPicPr>
          <p:nvPr/>
        </p:nvPicPr>
        <p:blipFill rotWithShape="1">
          <a:blip r:embed="rId2"/>
          <a:srcRect l="9153" t="10019" r="9396" b="5681"/>
          <a:stretch/>
        </p:blipFill>
        <p:spPr>
          <a:xfrm>
            <a:off x="1595534" y="3554962"/>
            <a:ext cx="8378890" cy="2276671"/>
          </a:xfrm>
          <a:prstGeom prst="rect">
            <a:avLst/>
          </a:prstGeom>
        </p:spPr>
      </p:pic>
    </p:spTree>
    <p:extLst>
      <p:ext uri="{BB962C8B-B14F-4D97-AF65-F5344CB8AC3E}">
        <p14:creationId xmlns:p14="http://schemas.microsoft.com/office/powerpoint/2010/main" val="3333139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CA" dirty="0"/>
          </a:p>
        </p:txBody>
      </p:sp>
      <p:sp>
        <p:nvSpPr>
          <p:cNvPr id="3" name="Content Placeholder 2"/>
          <p:cNvSpPr>
            <a:spLocks noGrp="1"/>
          </p:cNvSpPr>
          <p:nvPr>
            <p:ph idx="1"/>
          </p:nvPr>
        </p:nvSpPr>
        <p:spPr/>
        <p:txBody>
          <a:bodyPr/>
          <a:lstStyle/>
          <a:p>
            <a:r>
              <a:rPr lang="en-US" dirty="0"/>
              <a:t>Typical non-differentiable </a:t>
            </a:r>
            <a:r>
              <a:rPr lang="en-US" dirty="0" smtClean="0"/>
              <a:t>functions </a:t>
            </a:r>
            <a:r>
              <a:rPr lang="en-US" dirty="0"/>
              <a:t>have a step a cusp or a discontinuity</a:t>
            </a:r>
            <a:r>
              <a:rPr lang="en-US" dirty="0" smtClean="0"/>
              <a:t>:</a:t>
            </a:r>
          </a:p>
          <a:p>
            <a:endParaRPr lang="en-CA" dirty="0"/>
          </a:p>
        </p:txBody>
      </p:sp>
      <p:pic>
        <p:nvPicPr>
          <p:cNvPr id="4" name="Picture 3"/>
          <p:cNvPicPr>
            <a:picLocks noChangeAspect="1"/>
          </p:cNvPicPr>
          <p:nvPr/>
        </p:nvPicPr>
        <p:blipFill rotWithShape="1">
          <a:blip r:embed="rId2"/>
          <a:srcRect l="8511" t="3826" r="9403" b="4746"/>
          <a:stretch/>
        </p:blipFill>
        <p:spPr>
          <a:xfrm>
            <a:off x="1726164" y="2570023"/>
            <a:ext cx="8444204" cy="3629609"/>
          </a:xfrm>
          <a:prstGeom prst="rect">
            <a:avLst/>
          </a:prstGeom>
        </p:spPr>
      </p:pic>
    </p:spTree>
    <p:extLst>
      <p:ext uri="{BB962C8B-B14F-4D97-AF65-F5344CB8AC3E}">
        <p14:creationId xmlns:p14="http://schemas.microsoft.com/office/powerpoint/2010/main" val="2568759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407" y="167391"/>
            <a:ext cx="10058400" cy="1036258"/>
          </a:xfrm>
        </p:spPr>
        <p:txBody>
          <a:bodyPr/>
          <a:lstStyle/>
          <a:p>
            <a:r>
              <a:rPr lang="en-CA" b="1" dirty="0" smtClean="0"/>
              <a:t>Convex function</a:t>
            </a:r>
            <a:endParaRPr lang="en-CA" dirty="0"/>
          </a:p>
        </p:txBody>
      </p:sp>
      <p:sp>
        <p:nvSpPr>
          <p:cNvPr id="3" name="Content Placeholder 2"/>
          <p:cNvSpPr>
            <a:spLocks noGrp="1"/>
          </p:cNvSpPr>
          <p:nvPr>
            <p:ph idx="1"/>
          </p:nvPr>
        </p:nvSpPr>
        <p:spPr>
          <a:xfrm>
            <a:off x="634482" y="1101012"/>
            <a:ext cx="10493766" cy="5071188"/>
          </a:xfrm>
        </p:spPr>
        <p:txBody>
          <a:bodyPr/>
          <a:lstStyle/>
          <a:p>
            <a:r>
              <a:rPr lang="en-US" dirty="0"/>
              <a:t>this means that the line segment connecting two function’s points lays on or above its curve (it does not cross it). </a:t>
            </a:r>
            <a:endParaRPr lang="en-US" dirty="0" smtClean="0"/>
          </a:p>
          <a:p>
            <a:r>
              <a:rPr lang="en-US" dirty="0" smtClean="0"/>
              <a:t>If </a:t>
            </a:r>
            <a:r>
              <a:rPr lang="en-US" dirty="0"/>
              <a:t>it does it means that it has a local minimum which is not a global one</a:t>
            </a:r>
            <a:r>
              <a:rPr lang="en-US" dirty="0" smtClean="0"/>
              <a:t>.</a:t>
            </a:r>
          </a:p>
          <a:p>
            <a:r>
              <a:rPr lang="en-US" dirty="0"/>
              <a:t>Mathematically, for two points x₁, x₂ laying on the function’s curve this condition is expressed as</a:t>
            </a:r>
            <a:r>
              <a:rPr lang="en-US" dirty="0" smtClean="0"/>
              <a:t>:</a:t>
            </a:r>
          </a:p>
          <a:p>
            <a:endParaRPr lang="en-US" dirty="0"/>
          </a:p>
          <a:p>
            <a:endParaRPr lang="en-US" dirty="0" smtClean="0"/>
          </a:p>
          <a:p>
            <a:r>
              <a:rPr lang="en-US" dirty="0"/>
              <a:t>where λ denotes a point’s location on a section line and its value has to be between 0 (left </a:t>
            </a:r>
            <a:r>
              <a:rPr lang="en-US" dirty="0" smtClean="0"/>
              <a:t>point</a:t>
            </a:r>
            <a:r>
              <a:rPr lang="en-US" dirty="0"/>
              <a:t>) and 1 (right point), e.g. λ=0.5 means a location in the middle</a:t>
            </a:r>
            <a:r>
              <a:rPr lang="en-US" dirty="0" smtClean="0"/>
              <a:t>.</a:t>
            </a:r>
          </a:p>
          <a:p>
            <a:r>
              <a:rPr lang="en-US" dirty="0"/>
              <a:t>Another way to check mathematically if a univariate function is convex is to calculate the second derivative and check if its value is always bigger than 0.</a:t>
            </a:r>
            <a:endParaRPr lang="en-CA" dirty="0"/>
          </a:p>
        </p:txBody>
      </p:sp>
      <p:pic>
        <p:nvPicPr>
          <p:cNvPr id="4" name="Picture 3"/>
          <p:cNvPicPr>
            <a:picLocks noChangeAspect="1"/>
          </p:cNvPicPr>
          <p:nvPr/>
        </p:nvPicPr>
        <p:blipFill>
          <a:blip r:embed="rId2"/>
          <a:stretch>
            <a:fillRect/>
          </a:stretch>
        </p:blipFill>
        <p:spPr>
          <a:xfrm>
            <a:off x="3062870" y="2908650"/>
            <a:ext cx="5008109" cy="478362"/>
          </a:xfrm>
          <a:prstGeom prst="rect">
            <a:avLst/>
          </a:prstGeom>
        </p:spPr>
      </p:pic>
    </p:spTree>
    <p:extLst>
      <p:ext uri="{BB962C8B-B14F-4D97-AF65-F5344CB8AC3E}">
        <p14:creationId xmlns:p14="http://schemas.microsoft.com/office/powerpoint/2010/main" val="4092023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CA" dirty="0"/>
          </a:p>
        </p:txBody>
      </p:sp>
      <p:pic>
        <p:nvPicPr>
          <p:cNvPr id="4098" name="Picture 2" descr="https://miro.medium.com/v2/resize:fit:963/1*OfzsEguVgdG15jgT2i__9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9975" y="1968760"/>
            <a:ext cx="10058400" cy="3854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4005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754" y="120738"/>
            <a:ext cx="10058400" cy="1148225"/>
          </a:xfrm>
        </p:spPr>
        <p:txBody>
          <a:bodyPr/>
          <a:lstStyle/>
          <a:p>
            <a:r>
              <a:rPr lang="en-CA" b="1" dirty="0"/>
              <a:t> </a:t>
            </a:r>
            <a:r>
              <a:rPr lang="en-CA" b="1" dirty="0" smtClean="0"/>
              <a:t>Gradient</a:t>
            </a:r>
            <a:endParaRPr lang="en-CA" dirty="0"/>
          </a:p>
        </p:txBody>
      </p:sp>
      <p:sp>
        <p:nvSpPr>
          <p:cNvPr id="3" name="Content Placeholder 2"/>
          <p:cNvSpPr>
            <a:spLocks noGrp="1"/>
          </p:cNvSpPr>
          <p:nvPr>
            <p:ph idx="1"/>
          </p:nvPr>
        </p:nvSpPr>
        <p:spPr>
          <a:xfrm>
            <a:off x="606490" y="1268963"/>
            <a:ext cx="10521758" cy="4903237"/>
          </a:xfrm>
        </p:spPr>
        <p:txBody>
          <a:bodyPr/>
          <a:lstStyle/>
          <a:p>
            <a:r>
              <a:rPr lang="en-US" dirty="0"/>
              <a:t> it is a slope of a curve at a given point in a specified direction</a:t>
            </a:r>
            <a:r>
              <a:rPr lang="en-US" dirty="0" smtClean="0"/>
              <a:t>.</a:t>
            </a:r>
          </a:p>
          <a:p>
            <a:r>
              <a:rPr lang="en-US" dirty="0"/>
              <a:t>In the case of </a:t>
            </a:r>
            <a:r>
              <a:rPr lang="en-US" b="1" dirty="0"/>
              <a:t>a univariate function</a:t>
            </a:r>
            <a:r>
              <a:rPr lang="en-US" dirty="0"/>
              <a:t>, it is simply the </a:t>
            </a:r>
            <a:r>
              <a:rPr lang="en-US" b="1" dirty="0"/>
              <a:t>first derivative at a selected point</a:t>
            </a:r>
            <a:r>
              <a:rPr lang="en-US" dirty="0"/>
              <a:t>. </a:t>
            </a:r>
            <a:endParaRPr lang="en-US" dirty="0" smtClean="0"/>
          </a:p>
          <a:p>
            <a:r>
              <a:rPr lang="en-US" dirty="0" smtClean="0"/>
              <a:t>In </a:t>
            </a:r>
            <a:r>
              <a:rPr lang="en-US" dirty="0"/>
              <a:t>the case of </a:t>
            </a:r>
            <a:r>
              <a:rPr lang="en-US" b="1" dirty="0"/>
              <a:t>a multivariate function</a:t>
            </a:r>
            <a:r>
              <a:rPr lang="en-US" dirty="0"/>
              <a:t>, it is a </a:t>
            </a:r>
            <a:r>
              <a:rPr lang="en-US" b="1" dirty="0"/>
              <a:t>vector of derivatives</a:t>
            </a:r>
            <a:r>
              <a:rPr lang="en-US" dirty="0"/>
              <a:t> in each main direction (along variable axes). </a:t>
            </a:r>
            <a:endParaRPr lang="en-US" dirty="0" smtClean="0"/>
          </a:p>
          <a:p>
            <a:r>
              <a:rPr lang="en-US" dirty="0" smtClean="0"/>
              <a:t>Because </a:t>
            </a:r>
            <a:r>
              <a:rPr lang="en-US" dirty="0"/>
              <a:t>we are interested only in a slope along one axis and we don’t care about others these derivatives are called </a:t>
            </a:r>
            <a:r>
              <a:rPr lang="en-US" b="1" dirty="0"/>
              <a:t>partial derivatives</a:t>
            </a:r>
            <a:r>
              <a:rPr lang="en-US" dirty="0" smtClean="0"/>
              <a:t>.</a:t>
            </a:r>
          </a:p>
          <a:p>
            <a:r>
              <a:rPr lang="en-US" dirty="0"/>
              <a:t>A gradient for an n-dimensional function f(x) at a given point p is defined as follows</a:t>
            </a:r>
            <a:r>
              <a:rPr lang="en-US" dirty="0" smtClean="0"/>
              <a:t>:</a:t>
            </a:r>
          </a:p>
          <a:p>
            <a:endParaRPr lang="en-CA" dirty="0"/>
          </a:p>
        </p:txBody>
      </p:sp>
      <p:pic>
        <p:nvPicPr>
          <p:cNvPr id="4" name="Picture 3"/>
          <p:cNvPicPr>
            <a:picLocks noChangeAspect="1"/>
          </p:cNvPicPr>
          <p:nvPr/>
        </p:nvPicPr>
        <p:blipFill>
          <a:blip r:embed="rId2"/>
          <a:stretch>
            <a:fillRect/>
          </a:stretch>
        </p:blipFill>
        <p:spPr>
          <a:xfrm>
            <a:off x="4761430" y="4554991"/>
            <a:ext cx="2514418" cy="1351286"/>
          </a:xfrm>
          <a:prstGeom prst="rect">
            <a:avLst/>
          </a:prstGeom>
        </p:spPr>
      </p:pic>
    </p:spTree>
    <p:extLst>
      <p:ext uri="{BB962C8B-B14F-4D97-AF65-F5344CB8AC3E}">
        <p14:creationId xmlns:p14="http://schemas.microsoft.com/office/powerpoint/2010/main" val="1778871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CA" dirty="0"/>
          </a:p>
        </p:txBody>
      </p:sp>
      <p:sp>
        <p:nvSpPr>
          <p:cNvPr id="3" name="Content Placeholder 2"/>
          <p:cNvSpPr>
            <a:spLocks noGrp="1"/>
          </p:cNvSpPr>
          <p:nvPr>
            <p:ph idx="1"/>
          </p:nvPr>
        </p:nvSpPr>
        <p:spPr/>
        <p:txBody>
          <a:bodyPr/>
          <a:lstStyle/>
          <a:p>
            <a:r>
              <a:rPr lang="en-US" dirty="0"/>
              <a:t>The upside-down triangle is a so-called </a:t>
            </a:r>
            <a:r>
              <a:rPr lang="en-US" i="1" dirty="0" err="1"/>
              <a:t>nabla</a:t>
            </a:r>
            <a:r>
              <a:rPr lang="en-US" dirty="0"/>
              <a:t> symbol and you read it “del”. </a:t>
            </a:r>
            <a:endParaRPr lang="en-US" dirty="0" smtClean="0"/>
          </a:p>
          <a:p>
            <a:r>
              <a:rPr lang="en-US" dirty="0" smtClean="0"/>
              <a:t>To </a:t>
            </a:r>
            <a:r>
              <a:rPr lang="en-US" dirty="0"/>
              <a:t>better understand how to calculate it let’s do a hand calculation for an exemplary </a:t>
            </a:r>
            <a:r>
              <a:rPr lang="en-US" dirty="0" smtClean="0"/>
              <a:t>2-dimensional </a:t>
            </a:r>
            <a:r>
              <a:rPr lang="en-US" dirty="0"/>
              <a:t>function below</a:t>
            </a:r>
            <a:r>
              <a:rPr lang="en-US" dirty="0" smtClean="0"/>
              <a:t>.</a:t>
            </a:r>
          </a:p>
          <a:p>
            <a:endParaRPr lang="en-CA" dirty="0"/>
          </a:p>
        </p:txBody>
      </p:sp>
      <p:pic>
        <p:nvPicPr>
          <p:cNvPr id="4" name="Picture 3"/>
          <p:cNvPicPr>
            <a:picLocks noChangeAspect="1"/>
          </p:cNvPicPr>
          <p:nvPr/>
        </p:nvPicPr>
        <p:blipFill>
          <a:blip r:embed="rId2"/>
          <a:stretch>
            <a:fillRect/>
          </a:stretch>
        </p:blipFill>
        <p:spPr>
          <a:xfrm>
            <a:off x="1437192" y="3434615"/>
            <a:ext cx="2531025" cy="655184"/>
          </a:xfrm>
          <a:prstGeom prst="rect">
            <a:avLst/>
          </a:prstGeom>
        </p:spPr>
      </p:pic>
      <p:pic>
        <p:nvPicPr>
          <p:cNvPr id="5" name="Picture 4"/>
          <p:cNvPicPr>
            <a:picLocks noChangeAspect="1"/>
          </p:cNvPicPr>
          <p:nvPr/>
        </p:nvPicPr>
        <p:blipFill rotWithShape="1">
          <a:blip r:embed="rId3"/>
          <a:srcRect l="5968" t="2896" r="7407"/>
          <a:stretch/>
        </p:blipFill>
        <p:spPr>
          <a:xfrm>
            <a:off x="6497837" y="2979041"/>
            <a:ext cx="4792204" cy="3692346"/>
          </a:xfrm>
          <a:prstGeom prst="rect">
            <a:avLst/>
          </a:prstGeom>
        </p:spPr>
      </p:pic>
    </p:spTree>
    <p:extLst>
      <p:ext uri="{BB962C8B-B14F-4D97-AF65-F5344CB8AC3E}">
        <p14:creationId xmlns:p14="http://schemas.microsoft.com/office/powerpoint/2010/main" val="1857428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730" y="242036"/>
            <a:ext cx="10058400" cy="1185548"/>
          </a:xfrm>
        </p:spPr>
        <p:txBody>
          <a:bodyPr/>
          <a:lstStyle/>
          <a:p>
            <a:r>
              <a:rPr lang="en-US" dirty="0" smtClean="0"/>
              <a:t>Cont.</a:t>
            </a:r>
            <a:endParaRPr lang="en-CA" dirty="0"/>
          </a:p>
        </p:txBody>
      </p:sp>
      <p:pic>
        <p:nvPicPr>
          <p:cNvPr id="4" name="Content Placeholder 3"/>
          <p:cNvPicPr>
            <a:picLocks noGrp="1" noChangeAspect="1"/>
          </p:cNvPicPr>
          <p:nvPr>
            <p:ph idx="1"/>
          </p:nvPr>
        </p:nvPicPr>
        <p:blipFill>
          <a:blip r:embed="rId2"/>
          <a:stretch>
            <a:fillRect/>
          </a:stretch>
        </p:blipFill>
        <p:spPr>
          <a:xfrm>
            <a:off x="1368807" y="1664768"/>
            <a:ext cx="7653896" cy="4051300"/>
          </a:xfrm>
          <a:prstGeom prst="rect">
            <a:avLst/>
          </a:prstGeom>
        </p:spPr>
      </p:pic>
    </p:spTree>
    <p:extLst>
      <p:ext uri="{BB962C8B-B14F-4D97-AF65-F5344CB8AC3E}">
        <p14:creationId xmlns:p14="http://schemas.microsoft.com/office/powerpoint/2010/main" val="2127785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358" y="176722"/>
            <a:ext cx="10058400" cy="933621"/>
          </a:xfrm>
        </p:spPr>
        <p:txBody>
          <a:bodyPr/>
          <a:lstStyle/>
          <a:p>
            <a:r>
              <a:rPr lang="en-CA" b="1" dirty="0" smtClean="0"/>
              <a:t>Gradient </a:t>
            </a:r>
            <a:r>
              <a:rPr lang="en-CA" b="1" dirty="0"/>
              <a:t>Descent </a:t>
            </a:r>
            <a:r>
              <a:rPr lang="en-CA" b="1" dirty="0" smtClean="0"/>
              <a:t>Algorithm</a:t>
            </a:r>
            <a:endParaRPr lang="en-CA" dirty="0"/>
          </a:p>
        </p:txBody>
      </p:sp>
      <p:sp>
        <p:nvSpPr>
          <p:cNvPr id="3" name="Content Placeholder 2"/>
          <p:cNvSpPr>
            <a:spLocks noGrp="1"/>
          </p:cNvSpPr>
          <p:nvPr>
            <p:ph idx="1"/>
          </p:nvPr>
        </p:nvSpPr>
        <p:spPr>
          <a:xfrm>
            <a:off x="531845" y="1212980"/>
            <a:ext cx="10596403" cy="4959220"/>
          </a:xfrm>
        </p:spPr>
        <p:txBody>
          <a:bodyPr/>
          <a:lstStyle/>
          <a:p>
            <a:r>
              <a:rPr lang="en-US" dirty="0"/>
              <a:t>Gradient Descent Algorithm iteratively calculates the next point using gradient at the current position, scales it (by a learning rate) and subtracts obtained value from the current position (makes a step). </a:t>
            </a:r>
            <a:endParaRPr lang="en-US" dirty="0" smtClean="0"/>
          </a:p>
          <a:p>
            <a:r>
              <a:rPr lang="en-US" dirty="0" smtClean="0"/>
              <a:t>It </a:t>
            </a:r>
            <a:r>
              <a:rPr lang="en-US" dirty="0"/>
              <a:t>subtracts the value because we want to </a:t>
            </a:r>
            <a:r>
              <a:rPr lang="en-US" dirty="0" err="1"/>
              <a:t>minimise</a:t>
            </a:r>
            <a:r>
              <a:rPr lang="en-US" dirty="0"/>
              <a:t> the function (to </a:t>
            </a:r>
            <a:r>
              <a:rPr lang="en-US" dirty="0" err="1"/>
              <a:t>maximise</a:t>
            </a:r>
            <a:r>
              <a:rPr lang="en-US" dirty="0"/>
              <a:t> it would be adding). This process can be </a:t>
            </a:r>
            <a:r>
              <a:rPr lang="en-US" dirty="0" smtClean="0"/>
              <a:t>written </a:t>
            </a:r>
            <a:r>
              <a:rPr lang="en-US" dirty="0"/>
              <a:t>as</a:t>
            </a:r>
            <a:r>
              <a:rPr lang="en-US" dirty="0" smtClean="0"/>
              <a:t>:</a:t>
            </a:r>
          </a:p>
          <a:p>
            <a:endParaRPr lang="en-US" dirty="0"/>
          </a:p>
          <a:p>
            <a:r>
              <a:rPr lang="en-US" dirty="0"/>
              <a:t>There’s an important parameter </a:t>
            </a:r>
            <a:r>
              <a:rPr lang="en-US" b="1" dirty="0"/>
              <a:t>η</a:t>
            </a:r>
            <a:r>
              <a:rPr lang="en-US" dirty="0"/>
              <a:t> which scales the gradient and thus controls the step size. </a:t>
            </a:r>
            <a:endParaRPr lang="en-US" dirty="0" smtClean="0"/>
          </a:p>
          <a:p>
            <a:r>
              <a:rPr lang="en-US" dirty="0" smtClean="0"/>
              <a:t>In </a:t>
            </a:r>
            <a:r>
              <a:rPr lang="en-US" dirty="0"/>
              <a:t>machine learning, it is called </a:t>
            </a:r>
            <a:r>
              <a:rPr lang="en-US" b="1" dirty="0"/>
              <a:t>learning rate</a:t>
            </a:r>
            <a:r>
              <a:rPr lang="en-US" dirty="0"/>
              <a:t> and have a strong influence on performance.</a:t>
            </a:r>
          </a:p>
          <a:p>
            <a:r>
              <a:rPr lang="en-US" dirty="0"/>
              <a:t>The smaller learning rate the longer GD converges, or may reach maximum iteration before reaching the optimum point</a:t>
            </a:r>
          </a:p>
          <a:p>
            <a:r>
              <a:rPr lang="en-US" dirty="0"/>
              <a:t>If learning rate is too big the algorithm may not converge to the optimal point (jump around) or even to diverge completely.</a:t>
            </a:r>
          </a:p>
          <a:p>
            <a:endParaRPr lang="en-US" dirty="0" smtClean="0"/>
          </a:p>
          <a:p>
            <a:endParaRPr lang="en-CA" dirty="0"/>
          </a:p>
        </p:txBody>
      </p:sp>
      <p:pic>
        <p:nvPicPr>
          <p:cNvPr id="4" name="Picture 3"/>
          <p:cNvPicPr>
            <a:picLocks noChangeAspect="1"/>
          </p:cNvPicPr>
          <p:nvPr/>
        </p:nvPicPr>
        <p:blipFill>
          <a:blip r:embed="rId2"/>
          <a:stretch>
            <a:fillRect/>
          </a:stretch>
        </p:blipFill>
        <p:spPr>
          <a:xfrm>
            <a:off x="5366171" y="2769345"/>
            <a:ext cx="2490205" cy="496370"/>
          </a:xfrm>
          <a:prstGeom prst="rect">
            <a:avLst/>
          </a:prstGeom>
        </p:spPr>
      </p:pic>
    </p:spTree>
    <p:extLst>
      <p:ext uri="{BB962C8B-B14F-4D97-AF65-F5344CB8AC3E}">
        <p14:creationId xmlns:p14="http://schemas.microsoft.com/office/powerpoint/2010/main" val="2138080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6327" y="400657"/>
            <a:ext cx="10058400" cy="886968"/>
          </a:xfrm>
        </p:spPr>
        <p:txBody>
          <a:bodyPr/>
          <a:lstStyle/>
          <a:p>
            <a:r>
              <a:rPr lang="en-US" dirty="0" smtClean="0"/>
              <a:t>Cont.</a:t>
            </a:r>
            <a:endParaRPr lang="en-CA" dirty="0"/>
          </a:p>
        </p:txBody>
      </p:sp>
      <p:sp>
        <p:nvSpPr>
          <p:cNvPr id="3" name="Content Placeholder 2"/>
          <p:cNvSpPr>
            <a:spLocks noGrp="1"/>
          </p:cNvSpPr>
          <p:nvPr>
            <p:ph idx="1"/>
          </p:nvPr>
        </p:nvSpPr>
        <p:spPr>
          <a:xfrm>
            <a:off x="1166327" y="1539551"/>
            <a:ext cx="10300995" cy="4632649"/>
          </a:xfrm>
        </p:spPr>
        <p:txBody>
          <a:bodyPr/>
          <a:lstStyle/>
          <a:p>
            <a:pPr>
              <a:lnSpc>
                <a:spcPct val="150000"/>
              </a:lnSpc>
            </a:pPr>
            <a:r>
              <a:rPr lang="en-US" sz="2400" dirty="0"/>
              <a:t>In summary, Gradient Descent method’s steps are:</a:t>
            </a:r>
          </a:p>
          <a:p>
            <a:pPr marL="617220" lvl="1" indent="-342900">
              <a:lnSpc>
                <a:spcPct val="150000"/>
              </a:lnSpc>
              <a:buFont typeface="+mj-lt"/>
              <a:buAutoNum type="arabicPeriod"/>
            </a:pPr>
            <a:r>
              <a:rPr lang="en-US" sz="2000" dirty="0" smtClean="0"/>
              <a:t>choose </a:t>
            </a:r>
            <a:r>
              <a:rPr lang="en-US" sz="2000" dirty="0"/>
              <a:t>a starting point (</a:t>
            </a:r>
            <a:r>
              <a:rPr lang="en-US" sz="2000" dirty="0" err="1"/>
              <a:t>initialisation</a:t>
            </a:r>
            <a:r>
              <a:rPr lang="en-US" sz="2000" dirty="0"/>
              <a:t>)</a:t>
            </a:r>
          </a:p>
          <a:p>
            <a:pPr marL="617220" lvl="1" indent="-342900">
              <a:lnSpc>
                <a:spcPct val="150000"/>
              </a:lnSpc>
              <a:buFont typeface="+mj-lt"/>
              <a:buAutoNum type="arabicPeriod"/>
            </a:pPr>
            <a:r>
              <a:rPr lang="en-US" sz="2000" dirty="0"/>
              <a:t>calculate gradient at this point</a:t>
            </a:r>
          </a:p>
          <a:p>
            <a:pPr marL="617220" lvl="1" indent="-342900">
              <a:lnSpc>
                <a:spcPct val="150000"/>
              </a:lnSpc>
              <a:buFont typeface="+mj-lt"/>
              <a:buAutoNum type="arabicPeriod"/>
            </a:pPr>
            <a:r>
              <a:rPr lang="en-US" sz="2000" dirty="0"/>
              <a:t>make a scaled step in the opposite direction to the gradient (objective: </a:t>
            </a:r>
            <a:r>
              <a:rPr lang="en-US" sz="2000" dirty="0" err="1"/>
              <a:t>minimise</a:t>
            </a:r>
            <a:r>
              <a:rPr lang="en-US" sz="2000" dirty="0"/>
              <a:t>)</a:t>
            </a:r>
          </a:p>
          <a:p>
            <a:pPr marL="617220" lvl="1" indent="-342900">
              <a:lnSpc>
                <a:spcPct val="150000"/>
              </a:lnSpc>
              <a:buFont typeface="+mj-lt"/>
              <a:buAutoNum type="arabicPeriod"/>
            </a:pPr>
            <a:r>
              <a:rPr lang="en-US" sz="2000" dirty="0"/>
              <a:t>repeat points 2 and 3 until one of the criteria is met:</a:t>
            </a:r>
          </a:p>
          <a:p>
            <a:pPr lvl="2">
              <a:lnSpc>
                <a:spcPct val="150000"/>
              </a:lnSpc>
            </a:pPr>
            <a:r>
              <a:rPr lang="en-US" sz="1800" dirty="0"/>
              <a:t>maximum number of iterations reached</a:t>
            </a:r>
          </a:p>
          <a:p>
            <a:pPr lvl="2">
              <a:lnSpc>
                <a:spcPct val="150000"/>
              </a:lnSpc>
            </a:pPr>
            <a:r>
              <a:rPr lang="en-US" sz="1800" dirty="0"/>
              <a:t>step size is smaller than the tolerance (due to scaling or a small gradient).</a:t>
            </a:r>
          </a:p>
          <a:p>
            <a:endParaRPr lang="en-CA" dirty="0"/>
          </a:p>
        </p:txBody>
      </p:sp>
    </p:spTree>
    <p:extLst>
      <p:ext uri="{BB962C8B-B14F-4D97-AF65-F5344CB8AC3E}">
        <p14:creationId xmlns:p14="http://schemas.microsoft.com/office/powerpoint/2010/main" val="118443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269" y="40173"/>
            <a:ext cx="10058400" cy="1609344"/>
          </a:xfrm>
        </p:spPr>
        <p:txBody>
          <a:bodyPr/>
          <a:lstStyle/>
          <a:p>
            <a:r>
              <a:rPr lang="en-US" dirty="0" smtClean="0"/>
              <a:t>code</a:t>
            </a:r>
            <a:endParaRPr lang="en-CA" dirty="0"/>
          </a:p>
        </p:txBody>
      </p:sp>
      <p:pic>
        <p:nvPicPr>
          <p:cNvPr id="4" name="Content Placeholder 3"/>
          <p:cNvPicPr>
            <a:picLocks noGrp="1" noChangeAspect="1"/>
          </p:cNvPicPr>
          <p:nvPr>
            <p:ph idx="1"/>
          </p:nvPr>
        </p:nvPicPr>
        <p:blipFill>
          <a:blip r:embed="rId2"/>
          <a:stretch>
            <a:fillRect/>
          </a:stretch>
        </p:blipFill>
        <p:spPr>
          <a:xfrm>
            <a:off x="942392" y="1299806"/>
            <a:ext cx="9470571" cy="4683634"/>
          </a:xfrm>
          <a:prstGeom prst="rect">
            <a:avLst/>
          </a:prstGeom>
        </p:spPr>
      </p:pic>
    </p:spTree>
    <p:extLst>
      <p:ext uri="{BB962C8B-B14F-4D97-AF65-F5344CB8AC3E}">
        <p14:creationId xmlns:p14="http://schemas.microsoft.com/office/powerpoint/2010/main" val="1126738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CA" dirty="0"/>
          </a:p>
        </p:txBody>
      </p:sp>
      <p:sp>
        <p:nvSpPr>
          <p:cNvPr id="3" name="Content Placeholder 2"/>
          <p:cNvSpPr>
            <a:spLocks noGrp="1"/>
          </p:cNvSpPr>
          <p:nvPr>
            <p:ph idx="1"/>
          </p:nvPr>
        </p:nvSpPr>
        <p:spPr/>
        <p:txBody>
          <a:bodyPr/>
          <a:lstStyle/>
          <a:p>
            <a:r>
              <a:rPr lang="en-US" sz="2400" dirty="0"/>
              <a:t>This function takes 5 parameters:</a:t>
            </a:r>
          </a:p>
          <a:p>
            <a:pPr lvl="1"/>
            <a:r>
              <a:rPr lang="en-US" sz="2000" b="1" dirty="0" smtClean="0"/>
              <a:t>starting </a:t>
            </a:r>
            <a:r>
              <a:rPr lang="en-US" sz="2000" b="1" dirty="0"/>
              <a:t>point </a:t>
            </a:r>
            <a:r>
              <a:rPr lang="en-US" sz="2000" dirty="0"/>
              <a:t>[float] - in our case, we define it manually but in practice, it is often a random </a:t>
            </a:r>
            <a:r>
              <a:rPr lang="en-US" sz="2000" dirty="0" err="1"/>
              <a:t>initialisation</a:t>
            </a:r>
            <a:endParaRPr lang="en-US" sz="2000" dirty="0"/>
          </a:p>
          <a:p>
            <a:pPr lvl="1"/>
            <a:r>
              <a:rPr lang="en-US" sz="2000" b="1" dirty="0" smtClean="0"/>
              <a:t>gradient </a:t>
            </a:r>
            <a:r>
              <a:rPr lang="en-US" sz="2000" b="1" dirty="0"/>
              <a:t>function </a:t>
            </a:r>
            <a:r>
              <a:rPr lang="en-US" sz="2000" dirty="0"/>
              <a:t>[object] - function calculating gradient which has to be specified before-hand and passed to the GD function</a:t>
            </a:r>
          </a:p>
          <a:p>
            <a:pPr lvl="1"/>
            <a:r>
              <a:rPr lang="en-US" sz="2000" b="1" dirty="0" smtClean="0"/>
              <a:t>learning </a:t>
            </a:r>
            <a:r>
              <a:rPr lang="en-US" sz="2000" b="1" dirty="0"/>
              <a:t>rate</a:t>
            </a:r>
            <a:r>
              <a:rPr lang="en-US" sz="2000" dirty="0"/>
              <a:t> [float]</a:t>
            </a:r>
            <a:r>
              <a:rPr lang="en-US" sz="2000" b="1" dirty="0"/>
              <a:t> </a:t>
            </a:r>
            <a:r>
              <a:rPr lang="en-US" sz="2000" dirty="0"/>
              <a:t>- scaling factor for step sizes</a:t>
            </a:r>
          </a:p>
          <a:p>
            <a:pPr lvl="1"/>
            <a:r>
              <a:rPr lang="en-US" sz="2000" b="1" dirty="0" smtClean="0"/>
              <a:t>maximum </a:t>
            </a:r>
            <a:r>
              <a:rPr lang="en-US" sz="2000" b="1" dirty="0"/>
              <a:t>number of iterations</a:t>
            </a:r>
            <a:r>
              <a:rPr lang="en-US" sz="2000" dirty="0"/>
              <a:t> [</a:t>
            </a:r>
            <a:r>
              <a:rPr lang="en-US" sz="2000" dirty="0" err="1"/>
              <a:t>int</a:t>
            </a:r>
            <a:r>
              <a:rPr lang="en-US" sz="2000" dirty="0"/>
              <a:t>]</a:t>
            </a:r>
          </a:p>
          <a:p>
            <a:pPr lvl="1"/>
            <a:r>
              <a:rPr lang="en-US" sz="2000" b="1" dirty="0" smtClean="0"/>
              <a:t>tolerance</a:t>
            </a:r>
            <a:r>
              <a:rPr lang="en-US" sz="2000" b="1" dirty="0"/>
              <a:t> </a:t>
            </a:r>
            <a:r>
              <a:rPr lang="en-US" sz="2000" dirty="0"/>
              <a:t>[float]</a:t>
            </a:r>
            <a:r>
              <a:rPr lang="en-US" sz="2000" b="1" dirty="0"/>
              <a:t> </a:t>
            </a:r>
            <a:r>
              <a:rPr lang="en-US" sz="2000" dirty="0"/>
              <a:t>to conditionally stop the algorithm (in this case a default value is 0.01)</a:t>
            </a:r>
          </a:p>
          <a:p>
            <a:endParaRPr lang="en-CA" dirty="0"/>
          </a:p>
        </p:txBody>
      </p:sp>
    </p:spTree>
    <p:extLst>
      <p:ext uri="{BB962C8B-B14F-4D97-AF65-F5344CB8AC3E}">
        <p14:creationId xmlns:p14="http://schemas.microsoft.com/office/powerpoint/2010/main" val="511424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Example </a:t>
            </a:r>
            <a:r>
              <a:rPr lang="en-US" b="1" dirty="0"/>
              <a:t>1 — a quadratic </a:t>
            </a:r>
            <a:r>
              <a:rPr lang="en-US" b="1" dirty="0" smtClean="0"/>
              <a:t>function</a:t>
            </a:r>
            <a:endParaRPr lang="en-CA" dirty="0"/>
          </a:p>
        </p:txBody>
      </p:sp>
      <p:pic>
        <p:nvPicPr>
          <p:cNvPr id="4" name="Content Placeholder 3"/>
          <p:cNvPicPr>
            <a:picLocks noGrp="1" noChangeAspect="1"/>
          </p:cNvPicPr>
          <p:nvPr>
            <p:ph idx="1"/>
          </p:nvPr>
        </p:nvPicPr>
        <p:blipFill>
          <a:blip r:embed="rId2"/>
          <a:stretch>
            <a:fillRect/>
          </a:stretch>
        </p:blipFill>
        <p:spPr>
          <a:xfrm>
            <a:off x="2075561" y="2093976"/>
            <a:ext cx="6825844" cy="2277864"/>
          </a:xfrm>
          <a:prstGeom prst="rect">
            <a:avLst/>
          </a:prstGeom>
        </p:spPr>
      </p:pic>
      <p:pic>
        <p:nvPicPr>
          <p:cNvPr id="5" name="Picture 4"/>
          <p:cNvPicPr>
            <a:picLocks noChangeAspect="1"/>
          </p:cNvPicPr>
          <p:nvPr/>
        </p:nvPicPr>
        <p:blipFill>
          <a:blip r:embed="rId3"/>
          <a:stretch>
            <a:fillRect/>
          </a:stretch>
        </p:blipFill>
        <p:spPr>
          <a:xfrm>
            <a:off x="2075561" y="4264090"/>
            <a:ext cx="7376799" cy="2110923"/>
          </a:xfrm>
          <a:prstGeom prst="rect">
            <a:avLst/>
          </a:prstGeom>
        </p:spPr>
      </p:pic>
    </p:spTree>
    <p:extLst>
      <p:ext uri="{BB962C8B-B14F-4D97-AF65-F5344CB8AC3E}">
        <p14:creationId xmlns:p14="http://schemas.microsoft.com/office/powerpoint/2010/main" val="2978400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416" y="175414"/>
            <a:ext cx="10058400" cy="989605"/>
          </a:xfrm>
        </p:spPr>
        <p:txBody>
          <a:bodyPr/>
          <a:lstStyle/>
          <a:p>
            <a:r>
              <a:rPr lang="en-US" dirty="0" smtClean="0"/>
              <a:t>Cont.</a:t>
            </a:r>
            <a:endParaRPr lang="en-CA" dirty="0"/>
          </a:p>
        </p:txBody>
      </p:sp>
      <p:sp>
        <p:nvSpPr>
          <p:cNvPr id="3" name="Content Placeholder 2"/>
          <p:cNvSpPr>
            <a:spLocks noGrp="1"/>
          </p:cNvSpPr>
          <p:nvPr>
            <p:ph idx="1"/>
          </p:nvPr>
        </p:nvSpPr>
        <p:spPr>
          <a:xfrm>
            <a:off x="410547" y="1165019"/>
            <a:ext cx="10717701" cy="5007181"/>
          </a:xfrm>
        </p:spPr>
        <p:txBody>
          <a:bodyPr/>
          <a:lstStyle/>
          <a:p>
            <a:r>
              <a:rPr lang="en-US" dirty="0"/>
              <a:t>For this function, by taking a learning rate of 0.1 and starting point at x=9 we can easily calculate each step by hand. </a:t>
            </a:r>
            <a:endParaRPr lang="en-US" dirty="0" smtClean="0"/>
          </a:p>
          <a:p>
            <a:r>
              <a:rPr lang="en-US" dirty="0" smtClean="0"/>
              <a:t>Let’s </a:t>
            </a:r>
            <a:r>
              <a:rPr lang="en-US" dirty="0"/>
              <a:t>do it for the first 3 steps</a:t>
            </a:r>
            <a:r>
              <a:rPr lang="en-US" dirty="0" smtClean="0"/>
              <a:t>:</a:t>
            </a:r>
          </a:p>
          <a:p>
            <a:endParaRPr lang="en-US" dirty="0"/>
          </a:p>
          <a:p>
            <a:endParaRPr lang="en-US" dirty="0" smtClean="0"/>
          </a:p>
          <a:p>
            <a:endParaRPr lang="en-US" dirty="0"/>
          </a:p>
          <a:p>
            <a:endParaRPr lang="en-US" dirty="0" smtClean="0"/>
          </a:p>
          <a:p>
            <a:r>
              <a:rPr lang="en-US" dirty="0"/>
              <a:t>The python function is called by</a:t>
            </a:r>
            <a:r>
              <a:rPr lang="en-US" dirty="0" smtClean="0"/>
              <a:t>:</a:t>
            </a:r>
          </a:p>
          <a:p>
            <a:pPr lvl="1"/>
            <a:r>
              <a:rPr lang="en-CA" dirty="0"/>
              <a:t>history, result = </a:t>
            </a:r>
            <a:r>
              <a:rPr lang="en-CA" dirty="0" err="1"/>
              <a:t>gradient_descent</a:t>
            </a:r>
            <a:r>
              <a:rPr lang="en-CA" dirty="0"/>
              <a:t>(9, gradient_func1, 0.1, 100)</a:t>
            </a:r>
            <a:endParaRPr lang="en-US" dirty="0" smtClean="0"/>
          </a:p>
          <a:p>
            <a:endParaRPr lang="en-CA" dirty="0"/>
          </a:p>
        </p:txBody>
      </p:sp>
      <p:pic>
        <p:nvPicPr>
          <p:cNvPr id="4" name="Picture 3"/>
          <p:cNvPicPr>
            <a:picLocks noChangeAspect="1"/>
          </p:cNvPicPr>
          <p:nvPr/>
        </p:nvPicPr>
        <p:blipFill>
          <a:blip r:embed="rId2"/>
          <a:stretch>
            <a:fillRect/>
          </a:stretch>
        </p:blipFill>
        <p:spPr>
          <a:xfrm>
            <a:off x="3564294" y="2154624"/>
            <a:ext cx="4233703" cy="1597089"/>
          </a:xfrm>
          <a:prstGeom prst="rect">
            <a:avLst/>
          </a:prstGeom>
        </p:spPr>
      </p:pic>
    </p:spTree>
    <p:extLst>
      <p:ext uri="{BB962C8B-B14F-4D97-AF65-F5344CB8AC3E}">
        <p14:creationId xmlns:p14="http://schemas.microsoft.com/office/powerpoint/2010/main" val="1703700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060" y="279358"/>
            <a:ext cx="10058400" cy="905629"/>
          </a:xfrm>
        </p:spPr>
        <p:txBody>
          <a:bodyPr/>
          <a:lstStyle/>
          <a:p>
            <a:r>
              <a:rPr lang="en-US" dirty="0" smtClean="0"/>
              <a:t>Learning rate effect</a:t>
            </a:r>
            <a:endParaRPr lang="en-CA" dirty="0"/>
          </a:p>
        </p:txBody>
      </p:sp>
      <p:sp>
        <p:nvSpPr>
          <p:cNvPr id="3" name="Content Placeholder 2"/>
          <p:cNvSpPr>
            <a:spLocks noGrp="1"/>
          </p:cNvSpPr>
          <p:nvPr>
            <p:ph idx="1"/>
          </p:nvPr>
        </p:nvSpPr>
        <p:spPr>
          <a:xfrm>
            <a:off x="578498" y="1567543"/>
            <a:ext cx="10549750" cy="4604657"/>
          </a:xfrm>
        </p:spPr>
        <p:txBody>
          <a:bodyPr/>
          <a:lstStyle/>
          <a:p>
            <a:r>
              <a:rPr lang="en-US" dirty="0"/>
              <a:t>The animation below shows steps taken by the GD algorithm for learning rates of 0.1 and 0.8. As you see, for the smaller learning rate, as the algorithm approaches the minimum the steps are getting gradually smaller. For a bigger learning rate, it is jumping from one side to another before converging</a:t>
            </a:r>
            <a:r>
              <a:rPr lang="en-US" dirty="0" smtClean="0"/>
              <a:t>.</a:t>
            </a:r>
          </a:p>
          <a:p>
            <a:endParaRPr lang="en-CA"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0714" y="2920482"/>
            <a:ext cx="9601200" cy="3251718"/>
          </a:xfrm>
          <a:prstGeom prst="rect">
            <a:avLst/>
          </a:prstGeom>
        </p:spPr>
      </p:pic>
    </p:spTree>
    <p:extLst>
      <p:ext uri="{BB962C8B-B14F-4D97-AF65-F5344CB8AC3E}">
        <p14:creationId xmlns:p14="http://schemas.microsoft.com/office/powerpoint/2010/main" val="42486718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 2 — a function with a saddle </a:t>
            </a:r>
            <a:r>
              <a:rPr lang="en-US" b="1" dirty="0" smtClean="0"/>
              <a:t>point</a:t>
            </a:r>
            <a:endParaRPr lang="en-CA" dirty="0"/>
          </a:p>
        </p:txBody>
      </p:sp>
      <p:sp>
        <p:nvSpPr>
          <p:cNvPr id="3" name="Content Placeholder 2"/>
          <p:cNvSpPr>
            <a:spLocks noGrp="1"/>
          </p:cNvSpPr>
          <p:nvPr>
            <p:ph idx="1"/>
          </p:nvPr>
        </p:nvSpPr>
        <p:spPr/>
        <p:txBody>
          <a:bodyPr/>
          <a:lstStyle/>
          <a:p>
            <a:r>
              <a:rPr lang="en-US" dirty="0"/>
              <a:t>Now let’s see how the algorithm will cope with a semi-convex function we investigated mathematically before.</a:t>
            </a:r>
          </a:p>
          <a:p>
            <a:endParaRPr lang="en-US" dirty="0"/>
          </a:p>
          <a:p>
            <a:endParaRPr lang="en-US" dirty="0"/>
          </a:p>
          <a:p>
            <a:r>
              <a:rPr lang="en-US" dirty="0"/>
              <a:t>Below results for two learning rates and two different staring points</a:t>
            </a:r>
            <a:r>
              <a:rPr lang="en-US" dirty="0" smtClean="0"/>
              <a:t>.</a:t>
            </a:r>
          </a:p>
          <a:p>
            <a:endParaRPr lang="en-CA" dirty="0"/>
          </a:p>
        </p:txBody>
      </p:sp>
      <p:pic>
        <p:nvPicPr>
          <p:cNvPr id="5" name="Picture 4"/>
          <p:cNvPicPr>
            <a:picLocks noChangeAspect="1"/>
          </p:cNvPicPr>
          <p:nvPr/>
        </p:nvPicPr>
        <p:blipFill>
          <a:blip r:embed="rId2"/>
          <a:stretch>
            <a:fillRect/>
          </a:stretch>
        </p:blipFill>
        <p:spPr>
          <a:xfrm>
            <a:off x="4385387" y="2873830"/>
            <a:ext cx="2658836" cy="599200"/>
          </a:xfrm>
          <a:prstGeom prst="rect">
            <a:avLst/>
          </a:prstGeom>
        </p:spPr>
      </p:pic>
      <p:pic>
        <p:nvPicPr>
          <p:cNvPr id="6" name="Picture 5"/>
          <p:cNvPicPr>
            <a:picLocks noChangeAspect="1"/>
          </p:cNvPicPr>
          <p:nvPr/>
        </p:nvPicPr>
        <p:blipFill>
          <a:blip r:embed="rId3"/>
          <a:stretch>
            <a:fillRect/>
          </a:stretch>
        </p:blipFill>
        <p:spPr>
          <a:xfrm>
            <a:off x="2736723" y="4218164"/>
            <a:ext cx="6724650" cy="2257425"/>
          </a:xfrm>
          <a:prstGeom prst="rect">
            <a:avLst/>
          </a:prstGeom>
        </p:spPr>
      </p:pic>
    </p:spTree>
    <p:extLst>
      <p:ext uri="{BB962C8B-B14F-4D97-AF65-F5344CB8AC3E}">
        <p14:creationId xmlns:p14="http://schemas.microsoft.com/office/powerpoint/2010/main" val="10133077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6205" y="683985"/>
            <a:ext cx="8518847" cy="5231400"/>
          </a:xfrm>
        </p:spPr>
      </p:pic>
    </p:spTree>
    <p:extLst>
      <p:ext uri="{BB962C8B-B14F-4D97-AF65-F5344CB8AC3E}">
        <p14:creationId xmlns:p14="http://schemas.microsoft.com/office/powerpoint/2010/main" val="2792166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1775" y="2378747"/>
            <a:ext cx="10058400" cy="1609344"/>
          </a:xfrm>
        </p:spPr>
        <p:txBody>
          <a:bodyPr>
            <a:normAutofit fontScale="90000"/>
          </a:bodyPr>
          <a:lstStyle/>
          <a:p>
            <a:pPr algn="ctr"/>
            <a:r>
              <a:rPr lang="en-US" dirty="0"/>
              <a:t>Linear Regression and Gradient </a:t>
            </a:r>
            <a:r>
              <a:rPr lang="en-US" dirty="0" smtClean="0"/>
              <a:t>Descent</a:t>
            </a:r>
            <a:br>
              <a:rPr lang="en-US" dirty="0" smtClean="0"/>
            </a:br>
            <a:r>
              <a:rPr lang="en-US" dirty="0"/>
              <a:t/>
            </a:r>
            <a:br>
              <a:rPr lang="en-US" dirty="0"/>
            </a:br>
            <a:r>
              <a:rPr lang="en-US" dirty="0" smtClean="0"/>
              <a:t>Complete </a:t>
            </a:r>
            <a:r>
              <a:rPr lang="en-US" dirty="0"/>
              <a:t>Mathematical Derivation</a:t>
            </a:r>
            <a:endParaRPr lang="en-CA" dirty="0"/>
          </a:p>
        </p:txBody>
      </p:sp>
    </p:spTree>
    <p:extLst>
      <p:ext uri="{BB962C8B-B14F-4D97-AF65-F5344CB8AC3E}">
        <p14:creationId xmlns:p14="http://schemas.microsoft.com/office/powerpoint/2010/main" val="2289254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Linear Regression Model</a:t>
            </a:r>
          </a:p>
        </p:txBody>
      </p:sp>
      <p:sp>
        <p:nvSpPr>
          <p:cNvPr id="3" name="Content Placeholder 2"/>
          <p:cNvSpPr>
            <a:spLocks noGrp="1"/>
          </p:cNvSpPr>
          <p:nvPr>
            <p:ph idx="1"/>
          </p:nvPr>
        </p:nvSpPr>
        <p:spPr/>
        <p:txBody>
          <a:bodyPr>
            <a:normAutofit/>
          </a:bodyPr>
          <a:lstStyle/>
          <a:p>
            <a:r>
              <a:rPr lang="en-US" dirty="0"/>
              <a:t>We want to model the relationship between input x and output y with a straight line:</a:t>
            </a:r>
          </a:p>
          <a:p>
            <a:r>
              <a:rPr lang="en-US" sz="2400" b="1" dirty="0">
                <a:solidFill>
                  <a:srgbClr val="FF0000"/>
                </a:solidFill>
              </a:rPr>
              <a:t>ŷ = </a:t>
            </a:r>
            <a:r>
              <a:rPr lang="en-US" sz="2400" b="1" dirty="0" err="1">
                <a:solidFill>
                  <a:srgbClr val="FF0000"/>
                </a:solidFill>
              </a:rPr>
              <a:t>w₁x</a:t>
            </a:r>
            <a:r>
              <a:rPr lang="en-US" sz="2400" b="1" dirty="0">
                <a:solidFill>
                  <a:srgbClr val="FF0000"/>
                </a:solidFill>
              </a:rPr>
              <a:t> + w₀</a:t>
            </a:r>
          </a:p>
          <a:p>
            <a:r>
              <a:rPr lang="en-US" dirty="0"/>
              <a:t>Where:</a:t>
            </a:r>
          </a:p>
          <a:p>
            <a:pPr lvl="1"/>
            <a:r>
              <a:rPr lang="en-US" dirty="0"/>
              <a:t>x is our input feature (independent variable)</a:t>
            </a:r>
          </a:p>
          <a:p>
            <a:pPr lvl="1"/>
            <a:r>
              <a:rPr lang="en-US" dirty="0"/>
              <a:t>y is the actual output (dependent variable)</a:t>
            </a:r>
          </a:p>
          <a:p>
            <a:pPr lvl="1"/>
            <a:r>
              <a:rPr lang="en-US" dirty="0"/>
              <a:t>ŷ is our predicted output</a:t>
            </a:r>
          </a:p>
          <a:p>
            <a:pPr lvl="1"/>
            <a:r>
              <a:rPr lang="en-US" dirty="0"/>
              <a:t>w₁ is the weight/slope</a:t>
            </a:r>
          </a:p>
          <a:p>
            <a:pPr lvl="1"/>
            <a:r>
              <a:rPr lang="en-US" dirty="0"/>
              <a:t>w₀ is the bias/intercept</a:t>
            </a:r>
          </a:p>
          <a:p>
            <a:pPr marL="0" indent="0">
              <a:buNone/>
            </a:pPr>
            <a:r>
              <a:rPr lang="en-US" dirty="0"/>
              <a:t>For multiple data points, we have a dataset: {(x₁, y₁), (x₂, y₂), ..., (xₙ, yₙ)}</a:t>
            </a:r>
            <a:endParaRPr lang="en-CA" dirty="0"/>
          </a:p>
        </p:txBody>
      </p:sp>
    </p:spTree>
    <p:extLst>
      <p:ext uri="{BB962C8B-B14F-4D97-AF65-F5344CB8AC3E}">
        <p14:creationId xmlns:p14="http://schemas.microsoft.com/office/powerpoint/2010/main" val="2354214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Defining the Error (Residual)</a:t>
            </a:r>
          </a:p>
        </p:txBody>
      </p:sp>
      <p:sp>
        <p:nvSpPr>
          <p:cNvPr id="3" name="Content Placeholder 2"/>
          <p:cNvSpPr>
            <a:spLocks noGrp="1"/>
          </p:cNvSpPr>
          <p:nvPr>
            <p:ph idx="1"/>
          </p:nvPr>
        </p:nvSpPr>
        <p:spPr/>
        <p:txBody>
          <a:bodyPr/>
          <a:lstStyle/>
          <a:p>
            <a:r>
              <a:rPr lang="en-US" dirty="0"/>
              <a:t>For each data point </a:t>
            </a:r>
            <a:r>
              <a:rPr lang="en-US" dirty="0" err="1"/>
              <a:t>i</a:t>
            </a:r>
            <a:r>
              <a:rPr lang="en-US" dirty="0"/>
              <a:t>, the error is:</a:t>
            </a:r>
          </a:p>
          <a:p>
            <a:r>
              <a:rPr lang="en-US" b="1" dirty="0"/>
              <a:t>eᵢ = yᵢ - ŷᵢ = yᵢ - (</a:t>
            </a:r>
            <a:r>
              <a:rPr lang="en-US" b="1" dirty="0" err="1"/>
              <a:t>w₁x</a:t>
            </a:r>
            <a:r>
              <a:rPr lang="en-US" b="1" dirty="0"/>
              <a:t>ᵢ + w₀)</a:t>
            </a:r>
            <a:endParaRPr lang="en-US" dirty="0"/>
          </a:p>
          <a:p>
            <a:r>
              <a:rPr lang="en-US" dirty="0"/>
              <a:t>This is how far off our prediction is from the actual value.</a:t>
            </a:r>
          </a:p>
          <a:p>
            <a:r>
              <a:rPr lang="en-US" b="1" dirty="0" smtClean="0"/>
              <a:t>ŷᵢ: model prediction</a:t>
            </a:r>
          </a:p>
          <a:p>
            <a:r>
              <a:rPr lang="en-US" b="1" dirty="0" smtClean="0"/>
              <a:t>yᵢ: actual values [from the dataset]</a:t>
            </a:r>
            <a:endParaRPr lang="en-CA" dirty="0"/>
          </a:p>
        </p:txBody>
      </p:sp>
    </p:spTree>
    <p:extLst>
      <p:ext uri="{BB962C8B-B14F-4D97-AF65-F5344CB8AC3E}">
        <p14:creationId xmlns:p14="http://schemas.microsoft.com/office/powerpoint/2010/main" val="3135955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1082911"/>
          </a:xfrm>
        </p:spPr>
        <p:txBody>
          <a:bodyPr>
            <a:normAutofit/>
          </a:bodyPr>
          <a:lstStyle/>
          <a:p>
            <a:r>
              <a:rPr lang="en-US" sz="4800" dirty="0"/>
              <a:t>The Cost Function (Mean Squared Error)</a:t>
            </a:r>
            <a:endParaRPr lang="en-CA" sz="4800" dirty="0"/>
          </a:p>
        </p:txBody>
      </p:sp>
      <p:sp>
        <p:nvSpPr>
          <p:cNvPr id="3" name="Content Placeholder 2"/>
          <p:cNvSpPr>
            <a:spLocks noGrp="1"/>
          </p:cNvSpPr>
          <p:nvPr>
            <p:ph idx="1"/>
          </p:nvPr>
        </p:nvSpPr>
        <p:spPr>
          <a:xfrm>
            <a:off x="1069848" y="1810139"/>
            <a:ext cx="10058400" cy="4362061"/>
          </a:xfrm>
        </p:spPr>
        <p:txBody>
          <a:bodyPr>
            <a:normAutofit/>
          </a:bodyPr>
          <a:lstStyle/>
          <a:p>
            <a:r>
              <a:rPr lang="cy-GB" dirty="0"/>
              <a:t>We want to minimize the total error across all data points. We use squared error because:</a:t>
            </a:r>
          </a:p>
          <a:p>
            <a:pPr lvl="1"/>
            <a:r>
              <a:rPr lang="cy-GB" dirty="0"/>
              <a:t>It penalizes larger errors more heavily</a:t>
            </a:r>
          </a:p>
          <a:p>
            <a:pPr lvl="1"/>
            <a:r>
              <a:rPr lang="cy-GB" dirty="0"/>
              <a:t>It's always positive</a:t>
            </a:r>
          </a:p>
          <a:p>
            <a:r>
              <a:rPr lang="cy-GB" dirty="0"/>
              <a:t>It's differentiable (smooth)</a:t>
            </a:r>
          </a:p>
          <a:p>
            <a:pPr lvl="1"/>
            <a:r>
              <a:rPr lang="cy-GB" b="1" dirty="0"/>
              <a:t>J(w₀, w₁) = (1/n) </a:t>
            </a:r>
            <a:r>
              <a:rPr lang="el-GR" b="1" dirty="0"/>
              <a:t>Σ</a:t>
            </a:r>
            <a:r>
              <a:rPr lang="cy-GB" b="1" dirty="0"/>
              <a:t>ᵢ₌₁ⁿ (yᵢ - ŷᵢ)²</a:t>
            </a:r>
            <a:endParaRPr lang="cy-GB" dirty="0"/>
          </a:p>
          <a:p>
            <a:r>
              <a:rPr lang="cy-GB" dirty="0"/>
              <a:t>Substituting our model:</a:t>
            </a:r>
          </a:p>
          <a:p>
            <a:pPr lvl="1"/>
            <a:r>
              <a:rPr lang="cy-GB" b="1" dirty="0"/>
              <a:t>J(w₀, w₁) = (1/n) </a:t>
            </a:r>
            <a:r>
              <a:rPr lang="el-GR" b="1" dirty="0"/>
              <a:t>Σ</a:t>
            </a:r>
            <a:r>
              <a:rPr lang="cy-GB" b="1" dirty="0"/>
              <a:t>ᵢ₌₁ⁿ (yᵢ - (w₁xᵢ + w₀))²</a:t>
            </a:r>
            <a:endParaRPr lang="cy-GB" dirty="0"/>
          </a:p>
          <a:p>
            <a:r>
              <a:rPr lang="cy-GB" dirty="0"/>
              <a:t>Expanding:</a:t>
            </a:r>
          </a:p>
          <a:p>
            <a:pPr lvl="1"/>
            <a:r>
              <a:rPr lang="cy-GB" b="1" dirty="0"/>
              <a:t>J(w₀, w₁) = (1/n) </a:t>
            </a:r>
            <a:r>
              <a:rPr lang="el-GR" b="1" dirty="0"/>
              <a:t>Σ</a:t>
            </a:r>
            <a:r>
              <a:rPr lang="cy-GB" b="1" dirty="0"/>
              <a:t>ᵢ₌₁ⁿ (yᵢ - w₁xᵢ - w₀)²</a:t>
            </a:r>
            <a:endParaRPr lang="cy-GB" dirty="0"/>
          </a:p>
          <a:p>
            <a:r>
              <a:rPr lang="cy-GB" dirty="0"/>
              <a:t>This is the function we want to minimize!</a:t>
            </a:r>
          </a:p>
          <a:p>
            <a:endParaRPr lang="en-CA" dirty="0"/>
          </a:p>
        </p:txBody>
      </p:sp>
    </p:spTree>
    <p:extLst>
      <p:ext uri="{BB962C8B-B14F-4D97-AF65-F5344CB8AC3E}">
        <p14:creationId xmlns:p14="http://schemas.microsoft.com/office/powerpoint/2010/main" val="885472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730" y="251367"/>
            <a:ext cx="10058400" cy="942952"/>
          </a:xfrm>
        </p:spPr>
        <p:txBody>
          <a:bodyPr>
            <a:normAutofit/>
          </a:bodyPr>
          <a:lstStyle/>
          <a:p>
            <a:r>
              <a:rPr lang="en-US" sz="4400" dirty="0"/>
              <a:t>Deriving the Gradient (Partial Derivatives)</a:t>
            </a:r>
            <a:endParaRPr lang="en-CA" sz="4400" dirty="0"/>
          </a:p>
        </p:txBody>
      </p:sp>
      <p:sp>
        <p:nvSpPr>
          <p:cNvPr id="3" name="Content Placeholder 2"/>
          <p:cNvSpPr>
            <a:spLocks noGrp="1"/>
          </p:cNvSpPr>
          <p:nvPr>
            <p:ph idx="1"/>
          </p:nvPr>
        </p:nvSpPr>
        <p:spPr>
          <a:xfrm>
            <a:off x="485192" y="1194319"/>
            <a:ext cx="10643056" cy="4977881"/>
          </a:xfrm>
        </p:spPr>
        <p:txBody>
          <a:bodyPr/>
          <a:lstStyle/>
          <a:p>
            <a:r>
              <a:rPr lang="cy-GB" sz="2400" dirty="0"/>
              <a:t>To minimize J, we need to find where its slope is zero. We calculate partial derivatives with respect to each parameter.</a:t>
            </a:r>
          </a:p>
          <a:p>
            <a:pPr marL="0" indent="0">
              <a:buNone/>
            </a:pPr>
            <a:r>
              <a:rPr lang="cy-GB" sz="2400" b="1" dirty="0" smtClean="0"/>
              <a:t>1. Partial </a:t>
            </a:r>
            <a:r>
              <a:rPr lang="cy-GB" sz="2400" b="1" dirty="0"/>
              <a:t>Derivative with Respect to w₀</a:t>
            </a:r>
          </a:p>
          <a:p>
            <a:pPr lvl="1"/>
            <a:r>
              <a:rPr lang="cy-GB" sz="2000" b="1" dirty="0"/>
              <a:t>∂J/∂w₀ = ∂/∂w₀ [(1/n) </a:t>
            </a:r>
            <a:r>
              <a:rPr lang="el-GR" sz="2000" b="1" dirty="0"/>
              <a:t>Σ</a:t>
            </a:r>
            <a:r>
              <a:rPr lang="cy-GB" sz="2000" b="1" dirty="0"/>
              <a:t>ᵢ₌₁ⁿ (yᵢ - w₁xᵢ - w₀)²]</a:t>
            </a:r>
            <a:endParaRPr lang="cy-GB" sz="2000" dirty="0"/>
          </a:p>
          <a:p>
            <a:pPr lvl="1"/>
            <a:r>
              <a:rPr lang="cy-GB" sz="2000" dirty="0"/>
              <a:t>Using the chain rule: d/dx[f(x)²] = 2f(x)·f'(x)</a:t>
            </a:r>
          </a:p>
          <a:p>
            <a:pPr lvl="1"/>
            <a:r>
              <a:rPr lang="cy-GB" sz="2000" b="1" dirty="0"/>
              <a:t>∂J/∂w₀ = (1/n) </a:t>
            </a:r>
            <a:r>
              <a:rPr lang="el-GR" sz="2000" b="1" dirty="0"/>
              <a:t>Σ</a:t>
            </a:r>
            <a:r>
              <a:rPr lang="cy-GB" sz="2000" b="1" dirty="0"/>
              <a:t>ᵢ₌₁ⁿ 2(yᵢ - w₁xᵢ - w₀) · ∂/∂w₀(yᵢ - w₁xᵢ - w₀)</a:t>
            </a:r>
            <a:endParaRPr lang="cy-GB" sz="2000" dirty="0"/>
          </a:p>
          <a:p>
            <a:r>
              <a:rPr lang="cy-GB" sz="2400" dirty="0"/>
              <a:t>The derivative of (yᵢ - w₁xᵢ - w₀) with respect to w₀ is -1:</a:t>
            </a:r>
          </a:p>
          <a:p>
            <a:pPr lvl="1"/>
            <a:r>
              <a:rPr lang="cy-GB" sz="2000" b="1" dirty="0"/>
              <a:t>∂J/∂w₀ = (1/n) </a:t>
            </a:r>
            <a:r>
              <a:rPr lang="el-GR" sz="2000" b="1" dirty="0"/>
              <a:t>Σ</a:t>
            </a:r>
            <a:r>
              <a:rPr lang="cy-GB" sz="2000" b="1" dirty="0"/>
              <a:t>ᵢ₌₁ⁿ 2(yᵢ - w₁xᵢ - w₀) · (-1)</a:t>
            </a:r>
            <a:endParaRPr lang="cy-GB" sz="2000" dirty="0"/>
          </a:p>
          <a:p>
            <a:pPr lvl="1"/>
            <a:r>
              <a:rPr lang="cy-GB" sz="2000" b="1" dirty="0"/>
              <a:t>∂J/∂w₀ = -(2/n) </a:t>
            </a:r>
            <a:r>
              <a:rPr lang="el-GR" sz="2000" b="1" dirty="0"/>
              <a:t>Σ</a:t>
            </a:r>
            <a:r>
              <a:rPr lang="cy-GB" sz="2000" b="1" dirty="0"/>
              <a:t>ᵢ₌₁ⁿ (yᵢ - w₁xᵢ - w₀)</a:t>
            </a:r>
            <a:endParaRPr lang="cy-GB" sz="2000" dirty="0"/>
          </a:p>
          <a:p>
            <a:r>
              <a:rPr lang="cy-GB" sz="2400" dirty="0"/>
              <a:t>Or more compactly:</a:t>
            </a:r>
          </a:p>
          <a:p>
            <a:pPr lvl="1"/>
            <a:r>
              <a:rPr lang="cy-GB" sz="2000" b="1" dirty="0"/>
              <a:t>∂J/∂w₀ = -(2/n) </a:t>
            </a:r>
            <a:r>
              <a:rPr lang="el-GR" sz="2000" b="1" dirty="0"/>
              <a:t>Σ</a:t>
            </a:r>
            <a:r>
              <a:rPr lang="cy-GB" sz="2000" b="1" dirty="0"/>
              <a:t>ᵢ₌₁ⁿ (yᵢ - ŷᵢ)</a:t>
            </a:r>
            <a:endParaRPr lang="cy-GB" sz="2000" dirty="0"/>
          </a:p>
          <a:p>
            <a:endParaRPr lang="en-CA" dirty="0"/>
          </a:p>
        </p:txBody>
      </p:sp>
    </p:spTree>
    <p:extLst>
      <p:ext uri="{BB962C8B-B14F-4D97-AF65-F5344CB8AC3E}">
        <p14:creationId xmlns:p14="http://schemas.microsoft.com/office/powerpoint/2010/main" val="834948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CA" dirty="0"/>
          </a:p>
        </p:txBody>
      </p:sp>
      <p:sp>
        <p:nvSpPr>
          <p:cNvPr id="3" name="Content Placeholder 2"/>
          <p:cNvSpPr>
            <a:spLocks noGrp="1"/>
          </p:cNvSpPr>
          <p:nvPr>
            <p:ph idx="1"/>
          </p:nvPr>
        </p:nvSpPr>
        <p:spPr/>
        <p:txBody>
          <a:bodyPr/>
          <a:lstStyle/>
          <a:p>
            <a:r>
              <a:rPr lang="en-US" sz="2800" b="1" dirty="0" smtClean="0"/>
              <a:t>2</a:t>
            </a:r>
            <a:r>
              <a:rPr lang="ar-EG" sz="2800" b="1" dirty="0" smtClean="0"/>
              <a:t>.</a:t>
            </a:r>
            <a:r>
              <a:rPr lang="en-US" sz="2800" b="1" dirty="0" smtClean="0"/>
              <a:t> Partial </a:t>
            </a:r>
            <a:r>
              <a:rPr lang="en-US" sz="2800" b="1" dirty="0"/>
              <a:t>Derivative with Respect to w</a:t>
            </a:r>
            <a:r>
              <a:rPr lang="en-US" sz="2800" b="1" dirty="0" smtClean="0"/>
              <a:t>₁</a:t>
            </a:r>
          </a:p>
          <a:p>
            <a:pPr lvl="2"/>
            <a:r>
              <a:rPr lang="cy-GB" sz="2000" b="1" dirty="0"/>
              <a:t>∂J/∂w₁ = ∂/∂w₁ [(1/n) </a:t>
            </a:r>
            <a:r>
              <a:rPr lang="el-GR" sz="2000" b="1" dirty="0"/>
              <a:t>Σ</a:t>
            </a:r>
            <a:r>
              <a:rPr lang="cy-GB" sz="2000" b="1" dirty="0"/>
              <a:t>ᵢ₌₁ⁿ (yᵢ - w₁xᵢ - w₀)²]</a:t>
            </a:r>
            <a:endParaRPr lang="cy-GB" sz="2000" dirty="0"/>
          </a:p>
          <a:p>
            <a:pPr lvl="1"/>
            <a:r>
              <a:rPr lang="cy-GB" sz="2400" dirty="0"/>
              <a:t>Again using the chain rule:</a:t>
            </a:r>
          </a:p>
          <a:p>
            <a:pPr lvl="2"/>
            <a:r>
              <a:rPr lang="cy-GB" sz="2000" b="1" dirty="0"/>
              <a:t>∂J/∂w₁ = (1/n) </a:t>
            </a:r>
            <a:r>
              <a:rPr lang="el-GR" sz="2000" b="1" dirty="0"/>
              <a:t>Σ</a:t>
            </a:r>
            <a:r>
              <a:rPr lang="cy-GB" sz="2000" b="1" dirty="0"/>
              <a:t>ᵢ₌₁ⁿ 2(yᵢ - w₁xᵢ - w₀) · ∂/∂w₁(yᵢ - w₁xᵢ - w₀)</a:t>
            </a:r>
            <a:endParaRPr lang="cy-GB" sz="2000" dirty="0"/>
          </a:p>
          <a:p>
            <a:pPr lvl="1"/>
            <a:r>
              <a:rPr lang="cy-GB" sz="2400" dirty="0"/>
              <a:t>The derivative of (yᵢ - w₁xᵢ - w₀) with respect to w₁ is -xᵢ:</a:t>
            </a:r>
          </a:p>
          <a:p>
            <a:pPr lvl="2"/>
            <a:r>
              <a:rPr lang="cy-GB" sz="2000" b="1" dirty="0"/>
              <a:t>∂J/∂w₁ = (1/n) </a:t>
            </a:r>
            <a:r>
              <a:rPr lang="el-GR" sz="2000" b="1" dirty="0"/>
              <a:t>Σ</a:t>
            </a:r>
            <a:r>
              <a:rPr lang="cy-GB" sz="2000" b="1" dirty="0"/>
              <a:t>ᵢ₌₁ⁿ 2(yᵢ - w₁xᵢ - w₀) · (-xᵢ)</a:t>
            </a:r>
            <a:endParaRPr lang="cy-GB" sz="2000" dirty="0"/>
          </a:p>
          <a:p>
            <a:pPr lvl="2"/>
            <a:r>
              <a:rPr lang="cy-GB" sz="2000" b="1" dirty="0"/>
              <a:t>∂J/∂w₁ = -(2/n) </a:t>
            </a:r>
            <a:r>
              <a:rPr lang="el-GR" sz="2000" b="1" dirty="0"/>
              <a:t>Σ</a:t>
            </a:r>
            <a:r>
              <a:rPr lang="cy-GB" sz="2000" b="1" dirty="0"/>
              <a:t>ᵢ₌₁ⁿ xᵢ(yᵢ - w₁xᵢ - w₀)</a:t>
            </a:r>
            <a:endParaRPr lang="cy-GB" sz="2000" dirty="0"/>
          </a:p>
          <a:p>
            <a:pPr lvl="1"/>
            <a:r>
              <a:rPr lang="cy-GB" sz="2400" dirty="0"/>
              <a:t>Or:</a:t>
            </a:r>
          </a:p>
          <a:p>
            <a:pPr lvl="2"/>
            <a:r>
              <a:rPr lang="cy-GB" sz="2000" b="1" dirty="0"/>
              <a:t>∂J/∂w₁ = -(2/n) </a:t>
            </a:r>
            <a:r>
              <a:rPr lang="el-GR" sz="2000" b="1" dirty="0"/>
              <a:t>Σ</a:t>
            </a:r>
            <a:r>
              <a:rPr lang="cy-GB" sz="2000" b="1" dirty="0"/>
              <a:t>ᵢ₌₁ⁿ xᵢ(yᵢ - ŷᵢ)</a:t>
            </a:r>
            <a:endParaRPr lang="cy-GB" sz="2000" dirty="0"/>
          </a:p>
          <a:p>
            <a:endParaRPr lang="en-CA" b="1" dirty="0"/>
          </a:p>
        </p:txBody>
      </p:sp>
    </p:spTree>
    <p:extLst>
      <p:ext uri="{BB962C8B-B14F-4D97-AF65-F5344CB8AC3E}">
        <p14:creationId xmlns:p14="http://schemas.microsoft.com/office/powerpoint/2010/main" val="3777641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Gradient Descent Update Rule</a:t>
            </a:r>
            <a:endParaRPr lang="en-CA" dirty="0"/>
          </a:p>
        </p:txBody>
      </p:sp>
      <p:sp>
        <p:nvSpPr>
          <p:cNvPr id="3" name="Content Placeholder 2"/>
          <p:cNvSpPr>
            <a:spLocks noGrp="1"/>
          </p:cNvSpPr>
          <p:nvPr>
            <p:ph idx="1"/>
          </p:nvPr>
        </p:nvSpPr>
        <p:spPr/>
        <p:txBody>
          <a:bodyPr>
            <a:normAutofit/>
          </a:bodyPr>
          <a:lstStyle/>
          <a:p>
            <a:r>
              <a:rPr lang="cy-GB" dirty="0"/>
              <a:t>The gradient vector is:</a:t>
            </a:r>
          </a:p>
          <a:p>
            <a:pPr lvl="1"/>
            <a:r>
              <a:rPr lang="cy-GB" b="1" dirty="0"/>
              <a:t>∇J = [∂J/∂w₀, ∂J/∂w₁]ᵀ</a:t>
            </a:r>
            <a:endParaRPr lang="cy-GB" dirty="0"/>
          </a:p>
          <a:p>
            <a:r>
              <a:rPr lang="cy-GB" dirty="0"/>
              <a:t>To minimize J, we move in the opposite direction of the gradient:</a:t>
            </a:r>
          </a:p>
          <a:p>
            <a:pPr lvl="1"/>
            <a:r>
              <a:rPr lang="cy-GB" b="1" dirty="0"/>
              <a:t>w₀ := w₀ - </a:t>
            </a:r>
            <a:r>
              <a:rPr lang="el-GR" b="1" dirty="0"/>
              <a:t>α · ∂</a:t>
            </a:r>
            <a:r>
              <a:rPr lang="cy-GB" b="1" dirty="0"/>
              <a:t>J/∂w₀</a:t>
            </a:r>
            <a:endParaRPr lang="cy-GB" dirty="0"/>
          </a:p>
          <a:p>
            <a:pPr lvl="1"/>
            <a:r>
              <a:rPr lang="cy-GB" b="1" dirty="0"/>
              <a:t>w₁ := w₁ - </a:t>
            </a:r>
            <a:r>
              <a:rPr lang="el-GR" b="1" dirty="0"/>
              <a:t>α · ∂</a:t>
            </a:r>
            <a:r>
              <a:rPr lang="cy-GB" b="1" dirty="0"/>
              <a:t>J/∂w₁</a:t>
            </a:r>
            <a:endParaRPr lang="cy-GB" dirty="0"/>
          </a:p>
          <a:p>
            <a:r>
              <a:rPr lang="cy-GB" dirty="0"/>
              <a:t>Where </a:t>
            </a:r>
            <a:r>
              <a:rPr lang="el-GR" dirty="0"/>
              <a:t>α </a:t>
            </a:r>
            <a:r>
              <a:rPr lang="cy-GB" dirty="0"/>
              <a:t>is the learning rate (step size).</a:t>
            </a:r>
          </a:p>
          <a:p>
            <a:r>
              <a:rPr lang="cy-GB" dirty="0"/>
              <a:t>Substituting our derivatives:</a:t>
            </a:r>
          </a:p>
          <a:p>
            <a:pPr lvl="1"/>
            <a:r>
              <a:rPr lang="cy-GB" b="1" dirty="0"/>
              <a:t>w₀ := w₀ + </a:t>
            </a:r>
            <a:r>
              <a:rPr lang="el-GR" b="1" dirty="0"/>
              <a:t>α · (2/</a:t>
            </a:r>
            <a:r>
              <a:rPr lang="cy-GB" b="1" dirty="0"/>
              <a:t>n) </a:t>
            </a:r>
            <a:r>
              <a:rPr lang="el-GR" b="1" dirty="0"/>
              <a:t>Σ</a:t>
            </a:r>
            <a:r>
              <a:rPr lang="cy-GB" b="1" dirty="0"/>
              <a:t>ᵢ₌₁ⁿ (yᵢ - ŷᵢ)</a:t>
            </a:r>
            <a:endParaRPr lang="cy-GB" dirty="0"/>
          </a:p>
          <a:p>
            <a:pPr lvl="1"/>
            <a:r>
              <a:rPr lang="cy-GB" b="1" dirty="0"/>
              <a:t>w₁ := w₁ + </a:t>
            </a:r>
            <a:r>
              <a:rPr lang="el-GR" b="1" dirty="0"/>
              <a:t>α · (2/</a:t>
            </a:r>
            <a:r>
              <a:rPr lang="cy-GB" b="1" dirty="0"/>
              <a:t>n) </a:t>
            </a:r>
            <a:r>
              <a:rPr lang="el-GR" b="1" dirty="0"/>
              <a:t>Σ</a:t>
            </a:r>
            <a:r>
              <a:rPr lang="cy-GB" b="1" dirty="0"/>
              <a:t>ᵢ₌₁ⁿ xᵢ(yᵢ - ŷᵢ)</a:t>
            </a:r>
            <a:endParaRPr lang="cy-GB" dirty="0"/>
          </a:p>
          <a:p>
            <a:r>
              <a:rPr lang="cy-GB" dirty="0"/>
              <a:t>Note: Often the factor of 2 is absorbed into the learning rate </a:t>
            </a:r>
            <a:r>
              <a:rPr lang="el-GR" dirty="0"/>
              <a:t>α.</a:t>
            </a:r>
          </a:p>
          <a:p>
            <a:endParaRPr lang="en-CA" dirty="0"/>
          </a:p>
        </p:txBody>
      </p:sp>
    </p:spTree>
    <p:extLst>
      <p:ext uri="{BB962C8B-B14F-4D97-AF65-F5344CB8AC3E}">
        <p14:creationId xmlns:p14="http://schemas.microsoft.com/office/powerpoint/2010/main" val="3356882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7759" y="2556028"/>
            <a:ext cx="10058400" cy="1609344"/>
          </a:xfrm>
        </p:spPr>
        <p:txBody>
          <a:bodyPr/>
          <a:lstStyle/>
          <a:p>
            <a:r>
              <a:rPr lang="en-CA" dirty="0"/>
              <a:t>Complete Step-by-Step Example</a:t>
            </a:r>
          </a:p>
        </p:txBody>
      </p:sp>
    </p:spTree>
    <p:extLst>
      <p:ext uri="{BB962C8B-B14F-4D97-AF65-F5344CB8AC3E}">
        <p14:creationId xmlns:p14="http://schemas.microsoft.com/office/powerpoint/2010/main" val="1361532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Complete example</a:t>
            </a:r>
            <a:endParaRPr lang="en-CA" dirty="0"/>
          </a:p>
        </p:txBody>
      </p:sp>
      <p:pic>
        <p:nvPicPr>
          <p:cNvPr id="4" name="Content Placeholder 3"/>
          <p:cNvPicPr>
            <a:picLocks noGrp="1" noChangeAspect="1"/>
          </p:cNvPicPr>
          <p:nvPr>
            <p:ph idx="1"/>
          </p:nvPr>
        </p:nvPicPr>
        <p:blipFill>
          <a:blip r:embed="rId2"/>
          <a:stretch>
            <a:fillRect/>
          </a:stretch>
        </p:blipFill>
        <p:spPr>
          <a:xfrm>
            <a:off x="1455577" y="2473667"/>
            <a:ext cx="8164196" cy="3177815"/>
          </a:xfrm>
          <a:prstGeom prst="rect">
            <a:avLst/>
          </a:prstGeom>
        </p:spPr>
      </p:pic>
    </p:spTree>
    <p:extLst>
      <p:ext uri="{BB962C8B-B14F-4D97-AF65-F5344CB8AC3E}">
        <p14:creationId xmlns:p14="http://schemas.microsoft.com/office/powerpoint/2010/main" val="3777613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CA" dirty="0"/>
          </a:p>
        </p:txBody>
      </p:sp>
      <p:pic>
        <p:nvPicPr>
          <p:cNvPr id="4" name="Content Placeholder 3"/>
          <p:cNvPicPr>
            <a:picLocks noGrp="1" noChangeAspect="1"/>
          </p:cNvPicPr>
          <p:nvPr>
            <p:ph idx="1"/>
          </p:nvPr>
        </p:nvPicPr>
        <p:blipFill>
          <a:blip r:embed="rId2"/>
          <a:stretch>
            <a:fillRect/>
          </a:stretch>
        </p:blipFill>
        <p:spPr>
          <a:xfrm>
            <a:off x="2230325" y="2200815"/>
            <a:ext cx="5803332" cy="2464491"/>
          </a:xfrm>
          <a:prstGeom prst="rect">
            <a:avLst/>
          </a:prstGeom>
        </p:spPr>
      </p:pic>
    </p:spTree>
    <p:extLst>
      <p:ext uri="{BB962C8B-B14F-4D97-AF65-F5344CB8AC3E}">
        <p14:creationId xmlns:p14="http://schemas.microsoft.com/office/powerpoint/2010/main" val="1891915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ITERATION 1</a:t>
            </a:r>
          </a:p>
        </p:txBody>
      </p:sp>
      <p:sp>
        <p:nvSpPr>
          <p:cNvPr id="3" name="Content Placeholder 2"/>
          <p:cNvSpPr>
            <a:spLocks noGrp="1"/>
          </p:cNvSpPr>
          <p:nvPr>
            <p:ph idx="1"/>
          </p:nvPr>
        </p:nvSpPr>
        <p:spPr/>
        <p:txBody>
          <a:bodyPr>
            <a:normAutofit lnSpcReduction="10000"/>
          </a:bodyPr>
          <a:lstStyle/>
          <a:p>
            <a:r>
              <a:rPr lang="en-CA" b="1" dirty="0"/>
              <a:t>Step 1: </a:t>
            </a:r>
            <a:r>
              <a:rPr lang="en-CA" b="1" dirty="0" smtClean="0"/>
              <a:t>Compute Predictions</a:t>
            </a:r>
          </a:p>
          <a:p>
            <a:r>
              <a:rPr lang="cy-GB" dirty="0"/>
              <a:t>For each data point, compute ŷᵢ = w₁xᵢ + w₀:</a:t>
            </a:r>
          </a:p>
          <a:p>
            <a:pPr lvl="1"/>
            <a:r>
              <a:rPr lang="cy-GB" dirty="0"/>
              <a:t>ŷ₁ = 0(1) + 0 = 0</a:t>
            </a:r>
          </a:p>
          <a:p>
            <a:pPr lvl="1"/>
            <a:r>
              <a:rPr lang="cy-GB" dirty="0"/>
              <a:t>ŷ₂ = 0(2) + 0 = 0</a:t>
            </a:r>
          </a:p>
          <a:p>
            <a:pPr lvl="1"/>
            <a:r>
              <a:rPr lang="cy-GB" dirty="0"/>
              <a:t>ŷ₃ = 0(3) + 0 = 0</a:t>
            </a:r>
          </a:p>
          <a:p>
            <a:pPr lvl="1"/>
            <a:r>
              <a:rPr lang="cy-GB" dirty="0"/>
              <a:t>ŷ₄ = 0(4) + 0 = 0</a:t>
            </a:r>
          </a:p>
          <a:p>
            <a:r>
              <a:rPr lang="cy-GB" b="1" dirty="0"/>
              <a:t>Step 2: Compute Errors</a:t>
            </a:r>
          </a:p>
          <a:p>
            <a:pPr lvl="1"/>
            <a:r>
              <a:rPr lang="cy-GB" dirty="0"/>
              <a:t>eᵢ = yᵢ - ŷᵢ:</a:t>
            </a:r>
          </a:p>
          <a:p>
            <a:pPr lvl="1"/>
            <a:r>
              <a:rPr lang="cy-GB" dirty="0"/>
              <a:t>e₁ = 2.5 - 0 = 2.5</a:t>
            </a:r>
          </a:p>
          <a:p>
            <a:pPr lvl="1"/>
            <a:r>
              <a:rPr lang="cy-GB" dirty="0"/>
              <a:t>e₂ = 4.0 - 0 = 4.0</a:t>
            </a:r>
          </a:p>
          <a:p>
            <a:pPr lvl="1"/>
            <a:r>
              <a:rPr lang="cy-GB" dirty="0"/>
              <a:t>e₃ = 5.5 - 0 = 5.5</a:t>
            </a:r>
          </a:p>
          <a:p>
            <a:pPr lvl="1"/>
            <a:r>
              <a:rPr lang="cy-GB" dirty="0"/>
              <a:t>e₄ = 7.0 - 0 = 7.0</a:t>
            </a:r>
          </a:p>
          <a:p>
            <a:endParaRPr lang="en-CA" dirty="0"/>
          </a:p>
        </p:txBody>
      </p:sp>
    </p:spTree>
    <p:extLst>
      <p:ext uri="{BB962C8B-B14F-4D97-AF65-F5344CB8AC3E}">
        <p14:creationId xmlns:p14="http://schemas.microsoft.com/office/powerpoint/2010/main" val="1133963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539" y="195383"/>
            <a:ext cx="10058400" cy="1017597"/>
          </a:xfrm>
        </p:spPr>
        <p:txBody>
          <a:bodyPr/>
          <a:lstStyle/>
          <a:p>
            <a:r>
              <a:rPr lang="en-US" dirty="0" err="1" smtClean="0"/>
              <a:t>cont</a:t>
            </a:r>
            <a:endParaRPr lang="en-CA" dirty="0"/>
          </a:p>
        </p:txBody>
      </p:sp>
      <p:sp>
        <p:nvSpPr>
          <p:cNvPr id="3" name="Content Placeholder 2"/>
          <p:cNvSpPr>
            <a:spLocks noGrp="1"/>
          </p:cNvSpPr>
          <p:nvPr>
            <p:ph idx="1"/>
          </p:nvPr>
        </p:nvSpPr>
        <p:spPr>
          <a:xfrm>
            <a:off x="286077" y="1474236"/>
            <a:ext cx="4817706" cy="4385387"/>
          </a:xfrm>
        </p:spPr>
        <p:txBody>
          <a:bodyPr>
            <a:normAutofit fontScale="92500" lnSpcReduction="10000"/>
          </a:bodyPr>
          <a:lstStyle/>
          <a:p>
            <a:r>
              <a:rPr lang="cy-GB" b="1" dirty="0"/>
              <a:t>Step 3: Compute Cost</a:t>
            </a:r>
          </a:p>
          <a:p>
            <a:pPr lvl="1"/>
            <a:r>
              <a:rPr lang="cy-GB" dirty="0"/>
              <a:t>J = (1/n) </a:t>
            </a:r>
            <a:r>
              <a:rPr lang="el-GR" dirty="0"/>
              <a:t>Σ(</a:t>
            </a:r>
            <a:r>
              <a:rPr lang="cy-GB" dirty="0"/>
              <a:t>yᵢ - ŷᵢ)²</a:t>
            </a:r>
          </a:p>
          <a:p>
            <a:pPr lvl="1"/>
            <a:r>
              <a:rPr lang="cy-GB" dirty="0"/>
              <a:t>J = (1/4)[2.5² + 4.0² + 5.5² + 7.0²]</a:t>
            </a:r>
          </a:p>
          <a:p>
            <a:pPr lvl="1"/>
            <a:r>
              <a:rPr lang="cy-GB" dirty="0"/>
              <a:t>J = (1/4)[6.25 + 16.0 + 30.25 + 49.0]</a:t>
            </a:r>
          </a:p>
          <a:p>
            <a:pPr lvl="1"/>
            <a:r>
              <a:rPr lang="cy-GB" dirty="0"/>
              <a:t>J = (1/4)(101.5)</a:t>
            </a:r>
          </a:p>
          <a:p>
            <a:pPr lvl="1"/>
            <a:r>
              <a:rPr lang="cy-GB" b="1" dirty="0"/>
              <a:t>J = </a:t>
            </a:r>
            <a:r>
              <a:rPr lang="cy-GB" b="1" dirty="0" smtClean="0"/>
              <a:t>25.375</a:t>
            </a:r>
          </a:p>
          <a:p>
            <a:pPr lvl="1"/>
            <a:endParaRPr lang="cy-GB" dirty="0"/>
          </a:p>
          <a:p>
            <a:r>
              <a:rPr lang="cy-GB" b="1" dirty="0"/>
              <a:t>Step 4: Compute Gradients</a:t>
            </a:r>
          </a:p>
          <a:p>
            <a:r>
              <a:rPr lang="cy-GB" b="1" dirty="0"/>
              <a:t>For w₀:</a:t>
            </a:r>
            <a:endParaRPr lang="cy-GB" dirty="0"/>
          </a:p>
          <a:p>
            <a:r>
              <a:rPr lang="cy-GB" dirty="0"/>
              <a:t>∂J/∂w₀ = -(2/n) </a:t>
            </a:r>
            <a:r>
              <a:rPr lang="el-GR" dirty="0"/>
              <a:t>Σ(</a:t>
            </a:r>
            <a:r>
              <a:rPr lang="cy-GB" dirty="0"/>
              <a:t>yᵢ - ŷᵢ)</a:t>
            </a:r>
          </a:p>
          <a:p>
            <a:r>
              <a:rPr lang="cy-GB" dirty="0"/>
              <a:t>∂J/∂w₀ = -(2/4)[2.5 + 4.0 + 5.5 + 7.0]</a:t>
            </a:r>
          </a:p>
          <a:p>
            <a:r>
              <a:rPr lang="cy-GB" dirty="0"/>
              <a:t>∂J/∂w₀ = -(0.5)(19.0)</a:t>
            </a:r>
          </a:p>
          <a:p>
            <a:r>
              <a:rPr lang="cy-GB" b="1" dirty="0"/>
              <a:t>∂J/∂w₀ = -9.5</a:t>
            </a:r>
            <a:endParaRPr lang="cy-GB" dirty="0"/>
          </a:p>
          <a:p>
            <a:endParaRPr lang="en-CA" dirty="0"/>
          </a:p>
        </p:txBody>
      </p:sp>
      <p:sp>
        <p:nvSpPr>
          <p:cNvPr id="4" name="Content Placeholder 2"/>
          <p:cNvSpPr txBox="1">
            <a:spLocks/>
          </p:cNvSpPr>
          <p:nvPr/>
        </p:nvSpPr>
        <p:spPr>
          <a:xfrm>
            <a:off x="5589037" y="1642188"/>
            <a:ext cx="4982546" cy="4355841"/>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cy-GB" b="1" dirty="0" smtClean="0"/>
              <a:t>Step 4: Compute Gradients</a:t>
            </a:r>
          </a:p>
          <a:p>
            <a:r>
              <a:rPr lang="cy-GB" b="1" dirty="0"/>
              <a:t>For w₁:</a:t>
            </a:r>
            <a:endParaRPr lang="cy-GB" dirty="0"/>
          </a:p>
          <a:p>
            <a:pPr lvl="1"/>
            <a:r>
              <a:rPr lang="cy-GB" dirty="0"/>
              <a:t>∂J/∂w₁ = -(2/n) </a:t>
            </a:r>
            <a:r>
              <a:rPr lang="el-GR" dirty="0"/>
              <a:t>Σ </a:t>
            </a:r>
            <a:r>
              <a:rPr lang="cy-GB" dirty="0"/>
              <a:t>xᵢ(yᵢ - ŷᵢ)</a:t>
            </a:r>
          </a:p>
          <a:p>
            <a:r>
              <a:rPr lang="cy-GB" dirty="0"/>
              <a:t>Let's compute term by term:</a:t>
            </a:r>
          </a:p>
          <a:p>
            <a:pPr lvl="1"/>
            <a:r>
              <a:rPr lang="cy-GB" dirty="0"/>
              <a:t>x₁(y₁ - ŷ₁) = 1(2.5) = 2.5</a:t>
            </a:r>
          </a:p>
          <a:p>
            <a:pPr lvl="1"/>
            <a:r>
              <a:rPr lang="cy-GB" dirty="0"/>
              <a:t>x₂(y₂ - ŷ₂) = 2(4.0) = 8.0</a:t>
            </a:r>
          </a:p>
          <a:p>
            <a:pPr lvl="1"/>
            <a:r>
              <a:rPr lang="cy-GB" dirty="0"/>
              <a:t>x₃(y₃ - ŷ₃) = 3(5.5) = 16.5</a:t>
            </a:r>
          </a:p>
          <a:p>
            <a:pPr lvl="1"/>
            <a:r>
              <a:rPr lang="cy-GB" dirty="0"/>
              <a:t>x₄(y₄ - ŷ₄) = 4(7.0) = 28.0</a:t>
            </a:r>
          </a:p>
          <a:p>
            <a:r>
              <a:rPr lang="cy-GB" dirty="0"/>
              <a:t>Sum = 2.5 + 8.0 + 16.5 + 28.0 = 55.0</a:t>
            </a:r>
          </a:p>
          <a:p>
            <a:pPr lvl="1"/>
            <a:r>
              <a:rPr lang="cy-GB" dirty="0"/>
              <a:t>∂J/∂w₁ = -(2/4)(55.0)</a:t>
            </a:r>
          </a:p>
          <a:p>
            <a:pPr lvl="1"/>
            <a:r>
              <a:rPr lang="cy-GB" dirty="0"/>
              <a:t>∂J/∂w₁ = -(0.5)(55.0)</a:t>
            </a:r>
          </a:p>
          <a:p>
            <a:pPr lvl="1"/>
            <a:r>
              <a:rPr lang="cy-GB" b="1" dirty="0"/>
              <a:t>∂J/∂w₁ = -27.5</a:t>
            </a:r>
            <a:endParaRPr lang="cy-GB" dirty="0"/>
          </a:p>
          <a:p>
            <a:endParaRPr lang="en-CA" dirty="0"/>
          </a:p>
        </p:txBody>
      </p:sp>
    </p:spTree>
    <p:extLst>
      <p:ext uri="{BB962C8B-B14F-4D97-AF65-F5344CB8AC3E}">
        <p14:creationId xmlns:p14="http://schemas.microsoft.com/office/powerpoint/2010/main" val="372960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CA" dirty="0"/>
          </a:p>
        </p:txBody>
      </p:sp>
      <p:sp>
        <p:nvSpPr>
          <p:cNvPr id="3" name="Content Placeholder 2"/>
          <p:cNvSpPr>
            <a:spLocks noGrp="1"/>
          </p:cNvSpPr>
          <p:nvPr>
            <p:ph idx="1"/>
          </p:nvPr>
        </p:nvSpPr>
        <p:spPr/>
        <p:txBody>
          <a:bodyPr/>
          <a:lstStyle/>
          <a:p>
            <a:r>
              <a:rPr lang="en-CA" b="1" dirty="0"/>
              <a:t>Step 5: Update Parameters</a:t>
            </a:r>
          </a:p>
          <a:p>
            <a:r>
              <a:rPr lang="en-CA" dirty="0"/>
              <a:t>w₀ := w₀ - </a:t>
            </a:r>
            <a:r>
              <a:rPr lang="el-GR" dirty="0"/>
              <a:t>α(∂</a:t>
            </a:r>
            <a:r>
              <a:rPr lang="en-CA" dirty="0"/>
              <a:t>J/∂w₀)</a:t>
            </a:r>
          </a:p>
          <a:p>
            <a:r>
              <a:rPr lang="en-CA" dirty="0"/>
              <a:t>w₀ = 0 - 0.01(-9.5) = 0 + 0.095</a:t>
            </a:r>
          </a:p>
          <a:p>
            <a:r>
              <a:rPr lang="en-CA" b="1" dirty="0"/>
              <a:t>w₀ = 0.095</a:t>
            </a:r>
            <a:endParaRPr lang="en-CA" dirty="0"/>
          </a:p>
          <a:p>
            <a:r>
              <a:rPr lang="en-CA" dirty="0"/>
              <a:t>w₁ := w₁ - </a:t>
            </a:r>
            <a:r>
              <a:rPr lang="el-GR" dirty="0"/>
              <a:t>α(∂</a:t>
            </a:r>
            <a:r>
              <a:rPr lang="en-CA" dirty="0"/>
              <a:t>J/∂w₁)</a:t>
            </a:r>
          </a:p>
          <a:p>
            <a:r>
              <a:rPr lang="en-CA" dirty="0"/>
              <a:t>w₁ = 0 - 0.01(-27.5) = 0 + 0.275</a:t>
            </a:r>
          </a:p>
          <a:p>
            <a:r>
              <a:rPr lang="en-CA" b="1" dirty="0"/>
              <a:t>w₁ = 0.275</a:t>
            </a:r>
            <a:endParaRPr lang="en-CA" dirty="0"/>
          </a:p>
          <a:p>
            <a:endParaRPr lang="en-CA" dirty="0"/>
          </a:p>
        </p:txBody>
      </p:sp>
    </p:spTree>
    <p:extLst>
      <p:ext uri="{BB962C8B-B14F-4D97-AF65-F5344CB8AC3E}">
        <p14:creationId xmlns:p14="http://schemas.microsoft.com/office/powerpoint/2010/main" val="280624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ITERATION 2</a:t>
            </a:r>
          </a:p>
        </p:txBody>
      </p:sp>
      <p:sp>
        <p:nvSpPr>
          <p:cNvPr id="3" name="Content Placeholder 2"/>
          <p:cNvSpPr>
            <a:spLocks noGrp="1"/>
          </p:cNvSpPr>
          <p:nvPr>
            <p:ph idx="1"/>
          </p:nvPr>
        </p:nvSpPr>
        <p:spPr/>
        <p:txBody>
          <a:bodyPr>
            <a:normAutofit lnSpcReduction="10000"/>
          </a:bodyPr>
          <a:lstStyle/>
          <a:p>
            <a:r>
              <a:rPr lang="cy-GB" b="1" dirty="0"/>
              <a:t>ITERATION 2</a:t>
            </a:r>
          </a:p>
          <a:p>
            <a:r>
              <a:rPr lang="cy-GB" b="1" dirty="0"/>
              <a:t>Parameters:</a:t>
            </a:r>
            <a:endParaRPr lang="cy-GB" dirty="0"/>
          </a:p>
          <a:p>
            <a:r>
              <a:rPr lang="cy-GB" dirty="0"/>
              <a:t>w₀ = 0.095</a:t>
            </a:r>
          </a:p>
          <a:p>
            <a:r>
              <a:rPr lang="cy-GB" dirty="0"/>
              <a:t>w₁ = 0.275</a:t>
            </a:r>
          </a:p>
          <a:p>
            <a:r>
              <a:rPr lang="cy-GB" b="1" dirty="0"/>
              <a:t>Model:</a:t>
            </a:r>
            <a:r>
              <a:rPr lang="cy-GB" dirty="0"/>
              <a:t> ŷ = 0.275x + 0.095</a:t>
            </a:r>
          </a:p>
          <a:p>
            <a:r>
              <a:rPr lang="cy-GB" b="1" dirty="0"/>
              <a:t>Step 1: Compute Predictions</a:t>
            </a:r>
          </a:p>
          <a:p>
            <a:r>
              <a:rPr lang="cy-GB" dirty="0"/>
              <a:t>ŷ₁ = 0.275(1) + 0.095 = 0.370</a:t>
            </a:r>
          </a:p>
          <a:p>
            <a:r>
              <a:rPr lang="cy-GB" dirty="0"/>
              <a:t>ŷ₂ = 0.275(2) + 0.095 = 0.645</a:t>
            </a:r>
          </a:p>
          <a:p>
            <a:r>
              <a:rPr lang="cy-GB" dirty="0"/>
              <a:t>ŷ₃ = 0.275(3) + 0.095 = 0.920</a:t>
            </a:r>
          </a:p>
          <a:p>
            <a:r>
              <a:rPr lang="cy-GB" dirty="0"/>
              <a:t>ŷ₄ = 0.275(4) + 0.095 = 1.195</a:t>
            </a:r>
          </a:p>
          <a:p>
            <a:endParaRPr lang="en-CA" dirty="0"/>
          </a:p>
        </p:txBody>
      </p:sp>
    </p:spTree>
    <p:extLst>
      <p:ext uri="{BB962C8B-B14F-4D97-AF65-F5344CB8AC3E}">
        <p14:creationId xmlns:p14="http://schemas.microsoft.com/office/powerpoint/2010/main" val="34034335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After training iteration </a:t>
            </a:r>
            <a:r>
              <a:rPr lang="en-US" dirty="0" err="1" smtClean="0"/>
              <a:t>repeatition</a:t>
            </a:r>
            <a:endParaRPr lang="en-CA" dirty="0"/>
          </a:p>
        </p:txBody>
      </p:sp>
      <p:pic>
        <p:nvPicPr>
          <p:cNvPr id="4" name="Content Placeholder 3"/>
          <p:cNvPicPr>
            <a:picLocks noGrp="1" noChangeAspect="1"/>
          </p:cNvPicPr>
          <p:nvPr>
            <p:ph idx="1"/>
          </p:nvPr>
        </p:nvPicPr>
        <p:blipFill>
          <a:blip r:embed="rId2"/>
          <a:stretch>
            <a:fillRect/>
          </a:stretch>
        </p:blipFill>
        <p:spPr>
          <a:xfrm>
            <a:off x="1632376" y="2641469"/>
            <a:ext cx="7216765" cy="3010161"/>
          </a:xfrm>
          <a:prstGeom prst="rect">
            <a:avLst/>
          </a:prstGeom>
        </p:spPr>
      </p:pic>
    </p:spTree>
    <p:extLst>
      <p:ext uri="{BB962C8B-B14F-4D97-AF65-F5344CB8AC3E}">
        <p14:creationId xmlns:p14="http://schemas.microsoft.com/office/powerpoint/2010/main" val="3922864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Convergence:</a:t>
            </a:r>
          </a:p>
        </p:txBody>
      </p:sp>
      <p:sp>
        <p:nvSpPr>
          <p:cNvPr id="3" name="Content Placeholder 2"/>
          <p:cNvSpPr>
            <a:spLocks noGrp="1"/>
          </p:cNvSpPr>
          <p:nvPr>
            <p:ph idx="1"/>
          </p:nvPr>
        </p:nvSpPr>
        <p:spPr/>
        <p:txBody>
          <a:bodyPr/>
          <a:lstStyle/>
          <a:p>
            <a:r>
              <a:rPr lang="cy-GB" dirty="0"/>
              <a:t>After many iterations, the algorithm converges to:</a:t>
            </a:r>
          </a:p>
          <a:p>
            <a:pPr lvl="1"/>
            <a:r>
              <a:rPr lang="cy-GB" b="1" dirty="0"/>
              <a:t>w₀ ≈ 1.0</a:t>
            </a:r>
            <a:r>
              <a:rPr lang="cy-GB" dirty="0"/>
              <a:t> </a:t>
            </a:r>
            <a:r>
              <a:rPr lang="cy-GB" b="1" dirty="0"/>
              <a:t>w₁ ≈ 1.5</a:t>
            </a:r>
            <a:endParaRPr lang="cy-GB" dirty="0"/>
          </a:p>
          <a:p>
            <a:r>
              <a:rPr lang="cy-GB" dirty="0"/>
              <a:t>Our final model: </a:t>
            </a:r>
            <a:r>
              <a:rPr lang="cy-GB" b="1" dirty="0"/>
              <a:t>ŷ = 1.5x + 1.0</a:t>
            </a:r>
            <a:endParaRPr lang="cy-GB" dirty="0"/>
          </a:p>
          <a:p>
            <a:r>
              <a:rPr lang="cy-GB" dirty="0"/>
              <a:t>Let's verify with our data:</a:t>
            </a:r>
          </a:p>
          <a:p>
            <a:pPr lvl="1"/>
            <a:r>
              <a:rPr lang="cy-GB" dirty="0"/>
              <a:t>x=1: ŷ=2.5 ✓</a:t>
            </a:r>
          </a:p>
          <a:p>
            <a:pPr lvl="1"/>
            <a:r>
              <a:rPr lang="cy-GB" dirty="0"/>
              <a:t>x=2: ŷ=4.0 ✓</a:t>
            </a:r>
          </a:p>
          <a:p>
            <a:pPr lvl="1"/>
            <a:r>
              <a:rPr lang="cy-GB" dirty="0"/>
              <a:t>x=3: ŷ=5.5 ✓</a:t>
            </a:r>
          </a:p>
          <a:p>
            <a:pPr lvl="1"/>
            <a:r>
              <a:rPr lang="cy-GB" dirty="0"/>
              <a:t>x=4: ŷ=7.0 </a:t>
            </a:r>
            <a:r>
              <a:rPr lang="cy-GB" dirty="0" smtClean="0"/>
              <a:t>✓</a:t>
            </a:r>
            <a:endParaRPr lang="cy-GB" dirty="0"/>
          </a:p>
          <a:p>
            <a:r>
              <a:rPr lang="cy-GB" smtClean="0"/>
              <a:t>Perfect </a:t>
            </a:r>
            <a:r>
              <a:rPr lang="cy-GB" dirty="0"/>
              <a:t>fit!</a:t>
            </a:r>
          </a:p>
          <a:p>
            <a:endParaRPr lang="en-CA" dirty="0"/>
          </a:p>
        </p:txBody>
      </p:sp>
    </p:spTree>
    <p:extLst>
      <p:ext uri="{BB962C8B-B14F-4D97-AF65-F5344CB8AC3E}">
        <p14:creationId xmlns:p14="http://schemas.microsoft.com/office/powerpoint/2010/main" val="3205357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endParaRPr lang="en-CA"/>
          </a:p>
        </p:txBody>
      </p:sp>
    </p:spTree>
    <p:extLst>
      <p:ext uri="{BB962C8B-B14F-4D97-AF65-F5344CB8AC3E}">
        <p14:creationId xmlns:p14="http://schemas.microsoft.com/office/powerpoint/2010/main" val="25695854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endParaRPr lang="en-CA"/>
          </a:p>
        </p:txBody>
      </p:sp>
    </p:spTree>
    <p:extLst>
      <p:ext uri="{BB962C8B-B14F-4D97-AF65-F5344CB8AC3E}">
        <p14:creationId xmlns:p14="http://schemas.microsoft.com/office/powerpoint/2010/main" val="23516269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Content Placeholder 2"/>
          <p:cNvSpPr>
            <a:spLocks noGrp="1"/>
          </p:cNvSpPr>
          <p:nvPr>
            <p:ph idx="1"/>
          </p:nvPr>
        </p:nvSpPr>
        <p:spPr/>
        <p:txBody>
          <a:bodyPr/>
          <a:lstStyle/>
          <a:p>
            <a:endParaRPr lang="en-CA"/>
          </a:p>
        </p:txBody>
      </p:sp>
    </p:spTree>
    <p:extLst>
      <p:ext uri="{BB962C8B-B14F-4D97-AF65-F5344CB8AC3E}">
        <p14:creationId xmlns:p14="http://schemas.microsoft.com/office/powerpoint/2010/main" val="37456072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endParaRPr lang="en-CA"/>
          </a:p>
        </p:txBody>
      </p:sp>
    </p:spTree>
    <p:extLst>
      <p:ext uri="{BB962C8B-B14F-4D97-AF65-F5344CB8AC3E}">
        <p14:creationId xmlns:p14="http://schemas.microsoft.com/office/powerpoint/2010/main" val="25015758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endParaRPr lang="en-CA"/>
          </a:p>
        </p:txBody>
      </p:sp>
    </p:spTree>
    <p:extLst>
      <p:ext uri="{BB962C8B-B14F-4D97-AF65-F5344CB8AC3E}">
        <p14:creationId xmlns:p14="http://schemas.microsoft.com/office/powerpoint/2010/main" val="8437385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91</TotalTime>
  <Words>2378</Words>
  <Application>Microsoft Office PowerPoint</Application>
  <PresentationFormat>Widescreen</PresentationFormat>
  <Paragraphs>217</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Cambria</vt:lpstr>
      <vt:lpstr>Rockwell</vt:lpstr>
      <vt:lpstr>Rockwell Condensed</vt:lpstr>
      <vt:lpstr>Times New Roman</vt:lpstr>
      <vt:lpstr>Wingdings</vt:lpstr>
      <vt:lpstr>Wood Type</vt:lpstr>
      <vt:lpstr>Gradient descent</vt:lpstr>
      <vt:lpstr>Introduction</vt:lpstr>
      <vt:lpstr>Usage areas</vt:lpstr>
      <vt:lpstr>Function requirements</vt:lpstr>
      <vt:lpstr>differentiable</vt:lpstr>
      <vt:lpstr>Cont.</vt:lpstr>
      <vt:lpstr>Convex function</vt:lpstr>
      <vt:lpstr>Cont.</vt:lpstr>
      <vt:lpstr> Gradient</vt:lpstr>
      <vt:lpstr>Cont.</vt:lpstr>
      <vt:lpstr>Cont.</vt:lpstr>
      <vt:lpstr>Gradient Descent Algorithm</vt:lpstr>
      <vt:lpstr>Cont.</vt:lpstr>
      <vt:lpstr>code</vt:lpstr>
      <vt:lpstr>Cont.</vt:lpstr>
      <vt:lpstr>Example 1 — a quadratic function</vt:lpstr>
      <vt:lpstr>Cont.</vt:lpstr>
      <vt:lpstr>Learning rate effect</vt:lpstr>
      <vt:lpstr>Example 2 — a function with a saddle point</vt:lpstr>
      <vt:lpstr>PowerPoint Presentation</vt:lpstr>
      <vt:lpstr>Linear Regression and Gradient Descent  Complete Mathematical Derivation</vt:lpstr>
      <vt:lpstr>The Linear Regression Model</vt:lpstr>
      <vt:lpstr>Defining the Error (Residual)</vt:lpstr>
      <vt:lpstr>The Cost Function (Mean Squared Error)</vt:lpstr>
      <vt:lpstr>Deriving the Gradient (Partial Derivatives)</vt:lpstr>
      <vt:lpstr>Cont.</vt:lpstr>
      <vt:lpstr>The Gradient Descent Update Rule</vt:lpstr>
      <vt:lpstr>Complete Step-by-Step Example</vt:lpstr>
      <vt:lpstr>Complete example</vt:lpstr>
      <vt:lpstr>Cont.</vt:lpstr>
      <vt:lpstr>ITERATION 1</vt:lpstr>
      <vt:lpstr>cont</vt:lpstr>
      <vt:lpstr>Cont.</vt:lpstr>
      <vt:lpstr>ITERATION 2</vt:lpstr>
      <vt:lpstr>After training iteration repeatition</vt:lpstr>
      <vt:lpstr>Convergence: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Gradient descent</dc:title>
  <dc:creator>Khalid</dc:creator>
  <cp:lastModifiedBy>Khalid</cp:lastModifiedBy>
  <cp:revision>10</cp:revision>
  <dcterms:created xsi:type="dcterms:W3CDTF">2025-11-19T10:46:46Z</dcterms:created>
  <dcterms:modified xsi:type="dcterms:W3CDTF">2025-11-19T12:18:14Z</dcterms:modified>
</cp:coreProperties>
</file>